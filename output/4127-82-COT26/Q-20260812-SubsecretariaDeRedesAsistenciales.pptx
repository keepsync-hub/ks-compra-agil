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7"/>
        </a:solidFill>
      </p:bgPr>
    </p:bg>
    <p:spTree>
      <p:nvGrpSpPr>
        <p:cNvPr id="1" name=""/>
        <p:cNvGrpSpPr/>
        <p:nvPr/>
      </p:nvGrpSpPr>
      <p:grpSpPr>
        <a:xfrm>
          <a:off x="0" y="0"/>
          <a:ext cx="0" cy="0"/>
          <a:chOff x="0" y="0"/>
          <a:chExt cx="0" cy="0"/>
        </a:xfrm>
      </p:grpSpPr>
      <p:pic>
        <p:nvPicPr>
          <p:cNvPr id="2" name="Image 0" descr="/home/user/ks-compra-agil/src/assets/logo-keepsync-blanco.png">    </p:cNvPr>
          <p:cNvPicPr>
            <a:picLocks noChangeAspect="1"/>
          </p:cNvPicPr>
          <p:nvPr/>
        </p:nvPicPr>
        <p:blipFill>
          <a:blip r:embed="rId1"/>
          <a:stretch>
            <a:fillRect/>
          </a:stretch>
        </p:blipFill>
        <p:spPr>
          <a:xfrm>
            <a:off x="640080" y="548640"/>
            <a:ext cx="914400" cy="896112"/>
          </a:xfrm>
          <a:prstGeom prst="rect">
            <a:avLst/>
          </a:prstGeom>
        </p:spPr>
      </p:pic>
      <p:sp>
        <p:nvSpPr>
          <p:cNvPr id="3" name="Text 0"/>
          <p:cNvSpPr/>
          <p:nvPr/>
        </p:nvSpPr>
        <p:spPr>
          <a:xfrm>
            <a:off x="1627632" y="713232"/>
            <a:ext cx="3657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KeepSync</a:t>
            </a:r>
            <a:endParaRPr lang="en-US" sz="2400" dirty="0"/>
          </a:p>
        </p:txBody>
      </p:sp>
      <p:sp>
        <p:nvSpPr>
          <p:cNvPr id="4" name="Text 1"/>
          <p:cNvSpPr/>
          <p:nvPr/>
        </p:nvSpPr>
        <p:spPr>
          <a:xfrm>
            <a:off x="640080" y="2743200"/>
            <a:ext cx="941832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PROPUESTA COMERCIAL</a:t>
            </a:r>
            <a:endParaRPr lang="en-US" sz="3200" dirty="0"/>
          </a:p>
        </p:txBody>
      </p:sp>
      <p:sp>
        <p:nvSpPr>
          <p:cNvPr id="5" name="Text 2"/>
          <p:cNvSpPr/>
          <p:nvPr/>
        </p:nvSpPr>
        <p:spPr>
          <a:xfrm>
            <a:off x="640080" y="3200400"/>
            <a:ext cx="9418320" cy="914400"/>
          </a:xfrm>
          <a:prstGeom prst="rect">
            <a:avLst/>
          </a:prstGeom>
          <a:noFill/>
          <a:ln/>
        </p:spPr>
        <p:txBody>
          <a:bodyPr wrap="square" rtlCol="0" anchor="ctr"/>
          <a:lstStyle/>
          <a:p>
            <a:pPr indent="0" marL="0">
              <a:buNone/>
            </a:pPr>
            <a:r>
              <a:rPr lang="en-US" sz="2200" dirty="0">
                <a:solidFill>
                  <a:srgbClr val="B4AAFA"/>
                </a:solidFill>
                <a:latin typeface="Arial" pitchFamily="34" charset="0"/>
                <a:ea typeface="Arial" pitchFamily="34" charset="-122"/>
                <a:cs typeface="Arial" pitchFamily="34" charset="-120"/>
              </a:rPr>
              <a:t>Licencias Claude Pro para SUBSECRETARIA DE REDES ASISTENCIALES</a:t>
            </a:r>
            <a:endParaRPr lang="en-US" sz="2200" dirty="0"/>
          </a:p>
        </p:txBody>
      </p:sp>
      <p:sp>
        <p:nvSpPr>
          <p:cNvPr id="6" name="Text 3"/>
          <p:cNvSpPr/>
          <p:nvPr/>
        </p:nvSpPr>
        <p:spPr>
          <a:xfrm>
            <a:off x="640080" y="4617720"/>
            <a:ext cx="9418320" cy="45720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Respuesta a solicitud de Compra Ágil — 4127-82-COT26</a:t>
            </a:r>
            <a:endParaRPr lang="en-US" sz="1400" dirty="0"/>
          </a:p>
        </p:txBody>
      </p:sp>
      <p:sp>
        <p:nvSpPr>
          <p:cNvPr id="7" name="Shape 4"/>
          <p:cNvSpPr/>
          <p:nvPr/>
        </p:nvSpPr>
        <p:spPr>
          <a:xfrm>
            <a:off x="640080" y="5257800"/>
            <a:ext cx="9418320" cy="1417320"/>
          </a:xfrm>
          <a:prstGeom prst="roundRect">
            <a:avLst>
              <a:gd name="adj" fmla="val 5161"/>
            </a:avLst>
          </a:prstGeom>
          <a:solidFill>
            <a:srgbClr val="161527"/>
          </a:solidFill>
          <a:ln/>
        </p:spPr>
      </p:sp>
      <p:sp>
        <p:nvSpPr>
          <p:cNvPr id="8" name="Text 5"/>
          <p:cNvSpPr/>
          <p:nvPr/>
        </p:nvSpPr>
        <p:spPr>
          <a:xfrm>
            <a:off x="914400" y="539496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CLIENTE</a:t>
            </a:r>
            <a:endParaRPr lang="en-US" sz="1100" dirty="0"/>
          </a:p>
        </p:txBody>
      </p:sp>
      <p:sp>
        <p:nvSpPr>
          <p:cNvPr id="9" name="Text 6"/>
          <p:cNvSpPr/>
          <p:nvPr/>
        </p:nvSpPr>
        <p:spPr>
          <a:xfrm>
            <a:off x="3017520" y="539496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SUBSECRETARIA DE REDES ASISTENCIALES</a:t>
            </a:r>
            <a:endParaRPr lang="en-US" sz="1300" dirty="0"/>
          </a:p>
        </p:txBody>
      </p:sp>
      <p:sp>
        <p:nvSpPr>
          <p:cNvPr id="10" name="Text 7"/>
          <p:cNvSpPr/>
          <p:nvPr/>
        </p:nvSpPr>
        <p:spPr>
          <a:xfrm>
            <a:off x="914400" y="576072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PROYECTO</a:t>
            </a:r>
            <a:endParaRPr lang="en-US" sz="1100" dirty="0"/>
          </a:p>
        </p:txBody>
      </p:sp>
      <p:sp>
        <p:nvSpPr>
          <p:cNvPr id="11" name="Text 8"/>
          <p:cNvSpPr/>
          <p:nvPr/>
        </p:nvSpPr>
        <p:spPr>
          <a:xfrm>
            <a:off x="3017520" y="576072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DIVPRE  10 LICENCIAS DE CLAUDE PRO </a:t>
            </a:r>
            <a:endParaRPr lang="en-US" sz="1300" dirty="0"/>
          </a:p>
        </p:txBody>
      </p:sp>
      <p:sp>
        <p:nvSpPr>
          <p:cNvPr id="12" name="Text 9"/>
          <p:cNvSpPr/>
          <p:nvPr/>
        </p:nvSpPr>
        <p:spPr>
          <a:xfrm>
            <a:off x="914400" y="612648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DIRIGIDO A</a:t>
            </a:r>
            <a:endParaRPr lang="en-US" sz="1100" dirty="0"/>
          </a:p>
        </p:txBody>
      </p:sp>
      <p:sp>
        <p:nvSpPr>
          <p:cNvPr id="13" name="Text 10"/>
          <p:cNvSpPr/>
          <p:nvPr/>
        </p:nvSpPr>
        <p:spPr>
          <a:xfrm>
            <a:off x="3017520" y="612648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Mac Iver 541</a:t>
            </a:r>
            <a:endParaRPr lang="en-US" sz="1300" dirty="0"/>
          </a:p>
        </p:txBody>
      </p:sp>
      <p:sp>
        <p:nvSpPr>
          <p:cNvPr id="14" name="Text 11"/>
          <p:cNvSpPr/>
          <p:nvPr/>
        </p:nvSpPr>
        <p:spPr>
          <a:xfrm>
            <a:off x="640080" y="6995160"/>
            <a:ext cx="9418320" cy="320040"/>
          </a:xfrm>
          <a:prstGeom prst="rect">
            <a:avLst/>
          </a:prstGeom>
          <a:noFill/>
          <a:ln/>
        </p:spPr>
        <p:txBody>
          <a:bodyPr wrap="square" rtlCol="0" anchor="ctr"/>
          <a:lstStyle/>
          <a:p>
            <a:pPr indent="0" marL="0">
              <a:buNone/>
            </a:pPr>
            <a:r>
              <a:rPr lang="en-US" sz="1100" dirty="0">
                <a:solidFill>
                  <a:srgbClr val="8A8F98"/>
                </a:solidFill>
                <a:latin typeface="Arial" pitchFamily="34" charset="0"/>
                <a:ea typeface="Arial" pitchFamily="34" charset="-122"/>
                <a:cs typeface="Arial" pitchFamily="34" charset="-120"/>
              </a:rPr>
              <a:t>Presentado por KeepSync  —  agosto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457200"/>
            <a:ext cx="941832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Solución propuesta</a:t>
            </a:r>
            <a:endParaRPr lang="en-US" sz="2800" dirty="0"/>
          </a:p>
        </p:txBody>
      </p:sp>
      <p:sp>
        <p:nvSpPr>
          <p:cNvPr id="3" name="Text 1"/>
          <p:cNvSpPr/>
          <p:nvPr/>
        </p:nvSpPr>
        <p:spPr>
          <a:xfrm>
            <a:off x="640080" y="960120"/>
            <a:ext cx="9418320" cy="50292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10 cuentas Claude Pro por 12 meses, con acceso al asistente de IA de Anthropic para el equipo de SUBSECRETARIA DE REDES ASISTENCIALES.</a:t>
            </a:r>
            <a:endParaRPr lang="en-US" sz="1400" dirty="0"/>
          </a:p>
        </p:txBody>
      </p:sp>
      <p:sp>
        <p:nvSpPr>
          <p:cNvPr id="4" name="Shape 2"/>
          <p:cNvSpPr/>
          <p:nvPr/>
        </p:nvSpPr>
        <p:spPr>
          <a:xfrm>
            <a:off x="640080" y="1691640"/>
            <a:ext cx="2926080" cy="1737360"/>
          </a:xfrm>
          <a:prstGeom prst="roundRect">
            <a:avLst>
              <a:gd name="adj" fmla="val 3158"/>
            </a:avLst>
          </a:prstGeom>
          <a:solidFill>
            <a:srgbClr val="161527"/>
          </a:solidFill>
          <a:ln/>
        </p:spPr>
      </p:sp>
      <p:sp>
        <p:nvSpPr>
          <p:cNvPr id="5" name="Shape 3"/>
          <p:cNvSpPr/>
          <p:nvPr/>
        </p:nvSpPr>
        <p:spPr>
          <a:xfrm>
            <a:off x="868680" y="1920240"/>
            <a:ext cx="365760" cy="365760"/>
          </a:xfrm>
          <a:prstGeom prst="ellipse">
            <a:avLst/>
          </a:prstGeom>
          <a:solidFill>
            <a:srgbClr val="786CF0"/>
          </a:solidFill>
          <a:ln/>
        </p:spPr>
      </p:sp>
      <p:sp>
        <p:nvSpPr>
          <p:cNvPr id="6" name="Text 4"/>
          <p:cNvSpPr/>
          <p:nvPr/>
        </p:nvSpPr>
        <p:spPr>
          <a:xfrm>
            <a:off x="86868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6868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Capacidad ampliada</a:t>
            </a:r>
            <a:endParaRPr lang="en-US" sz="1300" dirty="0"/>
          </a:p>
        </p:txBody>
      </p:sp>
      <p:sp>
        <p:nvSpPr>
          <p:cNvPr id="8" name="Text 6"/>
          <p:cNvSpPr/>
          <p:nvPr/>
        </p:nvSpPr>
        <p:spPr>
          <a:xfrm>
            <a:off x="86868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Uso significativamente mayor que el plan gratuito, con acceso prioritario en horas de alta demanda.</a:t>
            </a:r>
            <a:endParaRPr lang="en-US" sz="1000" dirty="0"/>
          </a:p>
        </p:txBody>
      </p:sp>
      <p:sp>
        <p:nvSpPr>
          <p:cNvPr id="9" name="Shape 7"/>
          <p:cNvSpPr/>
          <p:nvPr/>
        </p:nvSpPr>
        <p:spPr>
          <a:xfrm>
            <a:off x="3794760" y="1691640"/>
            <a:ext cx="2926080" cy="1737360"/>
          </a:xfrm>
          <a:prstGeom prst="roundRect">
            <a:avLst>
              <a:gd name="adj" fmla="val 3158"/>
            </a:avLst>
          </a:prstGeom>
          <a:solidFill>
            <a:srgbClr val="161527"/>
          </a:solidFill>
          <a:ln/>
        </p:spPr>
      </p:sp>
      <p:sp>
        <p:nvSpPr>
          <p:cNvPr id="10" name="Shape 8"/>
          <p:cNvSpPr/>
          <p:nvPr/>
        </p:nvSpPr>
        <p:spPr>
          <a:xfrm>
            <a:off x="4023360" y="1920240"/>
            <a:ext cx="365760" cy="365760"/>
          </a:xfrm>
          <a:prstGeom prst="ellipse">
            <a:avLst/>
          </a:prstGeom>
          <a:solidFill>
            <a:srgbClr val="786CF0"/>
          </a:solidFill>
          <a:ln/>
        </p:spPr>
      </p:sp>
      <p:sp>
        <p:nvSpPr>
          <p:cNvPr id="11" name="Text 9"/>
          <p:cNvSpPr/>
          <p:nvPr/>
        </p:nvSpPr>
        <p:spPr>
          <a:xfrm>
            <a:off x="402336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02336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Modelos avanzados</a:t>
            </a:r>
            <a:endParaRPr lang="en-US" sz="1300" dirty="0"/>
          </a:p>
        </p:txBody>
      </p:sp>
      <p:sp>
        <p:nvSpPr>
          <p:cNvPr id="13" name="Text 11"/>
          <p:cNvSpPr/>
          <p:nvPr/>
        </p:nvSpPr>
        <p:spPr>
          <a:xfrm>
            <a:off x="402336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Acceso a los modelos más capaces de Claude para redacción, análisis de documentos, código y automatización.</a:t>
            </a:r>
            <a:endParaRPr lang="en-US" sz="1000" dirty="0"/>
          </a:p>
        </p:txBody>
      </p:sp>
      <p:sp>
        <p:nvSpPr>
          <p:cNvPr id="14" name="Shape 12"/>
          <p:cNvSpPr/>
          <p:nvPr/>
        </p:nvSpPr>
        <p:spPr>
          <a:xfrm>
            <a:off x="6949440" y="1691640"/>
            <a:ext cx="2926080" cy="1737360"/>
          </a:xfrm>
          <a:prstGeom prst="roundRect">
            <a:avLst>
              <a:gd name="adj" fmla="val 3158"/>
            </a:avLst>
          </a:prstGeom>
          <a:solidFill>
            <a:srgbClr val="161527"/>
          </a:solidFill>
          <a:ln/>
        </p:spPr>
      </p:sp>
      <p:sp>
        <p:nvSpPr>
          <p:cNvPr id="15" name="Shape 13"/>
          <p:cNvSpPr/>
          <p:nvPr/>
        </p:nvSpPr>
        <p:spPr>
          <a:xfrm>
            <a:off x="7178040" y="1920240"/>
            <a:ext cx="365760" cy="365760"/>
          </a:xfrm>
          <a:prstGeom prst="ellipse">
            <a:avLst/>
          </a:prstGeom>
          <a:solidFill>
            <a:srgbClr val="786CF0"/>
          </a:solidFill>
          <a:ln/>
        </p:spPr>
      </p:sp>
      <p:sp>
        <p:nvSpPr>
          <p:cNvPr id="16" name="Text 14"/>
          <p:cNvSpPr/>
          <p:nvPr/>
        </p:nvSpPr>
        <p:spPr>
          <a:xfrm>
            <a:off x="717804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717804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Herramientas de trabajo</a:t>
            </a:r>
            <a:endParaRPr lang="en-US" sz="1300" dirty="0"/>
          </a:p>
        </p:txBody>
      </p:sp>
      <p:sp>
        <p:nvSpPr>
          <p:cNvPr id="18" name="Text 16"/>
          <p:cNvSpPr/>
          <p:nvPr/>
        </p:nvSpPr>
        <p:spPr>
          <a:xfrm>
            <a:off x="717804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Proyectos, carga de archivos y funciones de investigación y razonamiento extendido para tareas complejas.</a:t>
            </a:r>
            <a:endParaRPr lang="en-US" sz="1000" dirty="0"/>
          </a:p>
        </p:txBody>
      </p:sp>
      <p:sp>
        <p:nvSpPr>
          <p:cNvPr id="19" name="Text 17"/>
          <p:cNvSpPr/>
          <p:nvPr/>
        </p:nvSpPr>
        <p:spPr>
          <a:xfrm>
            <a:off x="640080" y="3703320"/>
            <a:ext cx="941832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Cumplimiento del requerimiento</a:t>
            </a:r>
            <a:endParaRPr lang="en-US" sz="1600" dirty="0"/>
          </a:p>
        </p:txBody>
      </p:sp>
      <p:sp>
        <p:nvSpPr>
          <p:cNvPr id="20" name="Shape 18"/>
          <p:cNvSpPr/>
          <p:nvPr/>
        </p:nvSpPr>
        <p:spPr>
          <a:xfrm>
            <a:off x="640080" y="4178808"/>
            <a:ext cx="256032" cy="256032"/>
          </a:xfrm>
          <a:prstGeom prst="ellipse">
            <a:avLst/>
          </a:prstGeom>
          <a:solidFill>
            <a:srgbClr val="786CF0"/>
          </a:solidFill>
          <a:ln/>
        </p:spPr>
      </p:sp>
      <p:sp>
        <p:nvSpPr>
          <p:cNvPr id="21" name="Text 19"/>
          <p:cNvSpPr/>
          <p:nvPr/>
        </p:nvSpPr>
        <p:spPr>
          <a:xfrm>
            <a:off x="640080" y="4178808"/>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2" name="Text 20"/>
          <p:cNvSpPr/>
          <p:nvPr/>
        </p:nvSpPr>
        <p:spPr>
          <a:xfrm>
            <a:off x="1005840" y="4160520"/>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Producto/servicio — 10 licencias Claude Pro — 12 meses</a:t>
            </a:r>
            <a:endParaRPr lang="en-US" sz="1200" dirty="0"/>
          </a:p>
        </p:txBody>
      </p:sp>
      <p:sp>
        <p:nvSpPr>
          <p:cNvPr id="23" name="Shape 21"/>
          <p:cNvSpPr/>
          <p:nvPr/>
        </p:nvSpPr>
        <p:spPr>
          <a:xfrm>
            <a:off x="640080" y="4562856"/>
            <a:ext cx="256032" cy="256032"/>
          </a:xfrm>
          <a:prstGeom prst="ellipse">
            <a:avLst/>
          </a:prstGeom>
          <a:solidFill>
            <a:srgbClr val="786CF0"/>
          </a:solidFill>
          <a:ln/>
        </p:spPr>
      </p:sp>
      <p:sp>
        <p:nvSpPr>
          <p:cNvPr id="24" name="Text 22"/>
          <p:cNvSpPr/>
          <p:nvPr/>
        </p:nvSpPr>
        <p:spPr>
          <a:xfrm>
            <a:off x="640080" y="4562856"/>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5" name="Text 23"/>
          <p:cNvSpPr/>
          <p:nvPr/>
        </p:nvSpPr>
        <p:spPr>
          <a:xfrm>
            <a:off x="1005840" y="4544568"/>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Plazo de entrega — activación en 5 días hábil(es)</a:t>
            </a:r>
            <a:endParaRPr lang="en-US" sz="1200" dirty="0"/>
          </a:p>
        </p:txBody>
      </p:sp>
      <p:sp>
        <p:nvSpPr>
          <p:cNvPr id="26" name="Shape 24"/>
          <p:cNvSpPr/>
          <p:nvPr/>
        </p:nvSpPr>
        <p:spPr>
          <a:xfrm>
            <a:off x="640080" y="4946904"/>
            <a:ext cx="256032" cy="256032"/>
          </a:xfrm>
          <a:prstGeom prst="ellipse">
            <a:avLst/>
          </a:prstGeom>
          <a:solidFill>
            <a:srgbClr val="786CF0"/>
          </a:solidFill>
          <a:ln/>
        </p:spPr>
      </p:sp>
      <p:sp>
        <p:nvSpPr>
          <p:cNvPr id="27" name="Text 25"/>
          <p:cNvSpPr/>
          <p:nvPr/>
        </p:nvSpPr>
        <p:spPr>
          <a:xfrm>
            <a:off x="640080" y="4946904"/>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8" name="Text 26"/>
          <p:cNvSpPr/>
          <p:nvPr/>
        </p:nvSpPr>
        <p:spPr>
          <a:xfrm>
            <a:off x="1005840" y="4928616"/>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Despacho digital — incluido en el valor total</a:t>
            </a:r>
            <a:endParaRPr lang="en-US" sz="1200" dirty="0"/>
          </a:p>
        </p:txBody>
      </p:sp>
      <p:sp>
        <p:nvSpPr>
          <p:cNvPr id="29" name="Text 27"/>
          <p:cNvSpPr/>
          <p:nvPr/>
        </p:nvSpPr>
        <p:spPr>
          <a:xfrm>
            <a:off x="640080" y="6903720"/>
            <a:ext cx="9418320" cy="457200"/>
          </a:xfrm>
          <a:prstGeom prst="rect">
            <a:avLst/>
          </a:prstGeom>
          <a:noFill/>
          <a:ln/>
        </p:spPr>
        <p:txBody>
          <a:bodyPr wrap="square" rtlCol="0" anchor="ctr"/>
          <a:lstStyle/>
          <a:p>
            <a:pPr indent="0" marL="0">
              <a:buNone/>
            </a:pPr>
            <a:r>
              <a:rPr lang="en-US" sz="1000" i="1" dirty="0">
                <a:solidFill>
                  <a:srgbClr val="8A8F98"/>
                </a:solidFill>
                <a:latin typeface="Arial" pitchFamily="34" charset="0"/>
                <a:ea typeface="Arial" pitchFamily="34" charset="-122"/>
                <a:cs typeface="Arial" pitchFamily="34" charset="-120"/>
              </a:rPr>
              <a:t>Proveedor hábil en el Sistema de Información (Mercado Público) — Cotización formal adjunta con el detalle de lo ofertado.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rtlCol="0" anchor="ctr"/>
          <a:lstStyle/>
          <a:p>
            <a:pPr indent="0" marL="0">
              <a:buNone/>
            </a:pPr>
            <a:r>
              <a:rPr lang="en-US" sz="1200" b="1" spc="200" kern="0" dirty="0">
                <a:solidFill>
                  <a:srgbClr val="B4AAFA"/>
                </a:solidFill>
                <a:latin typeface="Arial" pitchFamily="34" charset="0"/>
                <a:ea typeface="Arial" pitchFamily="34" charset="-122"/>
                <a:cs typeface="Arial" pitchFamily="34" charset="-120"/>
              </a:rPr>
              <a:t>MARCO NORMATIVO</a:t>
            </a:r>
            <a:endParaRPr lang="en-US" sz="1200" dirty="0"/>
          </a:p>
        </p:txBody>
      </p:sp>
      <p:sp>
        <p:nvSpPr>
          <p:cNvPr id="3" name="Text 1"/>
          <p:cNvSpPr/>
          <p:nvPr/>
        </p:nvSpPr>
        <p:spPr>
          <a:xfrm>
            <a:off x="566928" y="786384"/>
            <a:ext cx="950976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Alineación con la Ley 21.180</a:t>
            </a:r>
            <a:endParaRPr lang="en-US" sz="2600" dirty="0"/>
          </a:p>
        </p:txBody>
      </p:sp>
      <p:sp>
        <p:nvSpPr>
          <p:cNvPr id="4" name="Text 2"/>
          <p:cNvSpPr/>
          <p:nvPr/>
        </p:nvSpPr>
        <p:spPr>
          <a:xfrm>
            <a:off x="566928" y="1700784"/>
            <a:ext cx="9555480" cy="77724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Ley de Transformación Digital del Estado (Art. 16 bis). Las licencias Claude Pro potencian al equipo de SUBSECRETARIA DE REDES ASISTENCIALES para operar bajo los principios que la ley establece en la tramitación electrónica de los procedimientos administrativos.</a:t>
            </a:r>
            <a:endParaRPr lang="en-US" sz="1300" dirty="0"/>
          </a:p>
        </p:txBody>
      </p:sp>
      <p:sp>
        <p:nvSpPr>
          <p:cNvPr id="5" name="Shape 3"/>
          <p:cNvSpPr/>
          <p:nvPr/>
        </p:nvSpPr>
        <p:spPr>
          <a:xfrm>
            <a:off x="566928" y="2487168"/>
            <a:ext cx="4626864" cy="1783080"/>
          </a:xfrm>
          <a:prstGeom prst="roundRect">
            <a:avLst>
              <a:gd name="adj" fmla="val 3077"/>
            </a:avLst>
          </a:prstGeom>
          <a:solidFill>
            <a:srgbClr val="161527"/>
          </a:solidFill>
          <a:ln/>
        </p:spPr>
      </p:sp>
      <p:sp>
        <p:nvSpPr>
          <p:cNvPr id="6" name="Shape 4"/>
          <p:cNvSpPr/>
          <p:nvPr/>
        </p:nvSpPr>
        <p:spPr>
          <a:xfrm>
            <a:off x="859536" y="2761488"/>
            <a:ext cx="402336" cy="402336"/>
          </a:xfrm>
          <a:prstGeom prst="ellipse">
            <a:avLst/>
          </a:prstGeom>
          <a:solidFill>
            <a:srgbClr val="786CF0"/>
          </a:solidFill>
          <a:ln/>
        </p:spPr>
      </p:sp>
      <p:sp>
        <p:nvSpPr>
          <p:cNvPr id="7" name="Text 5"/>
          <p:cNvSpPr/>
          <p:nvPr/>
        </p:nvSpPr>
        <p:spPr>
          <a:xfrm>
            <a:off x="859536"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859536"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Actualización</a:t>
            </a:r>
            <a:endParaRPr lang="en-US" sz="1300" dirty="0"/>
          </a:p>
        </p:txBody>
      </p:sp>
      <p:sp>
        <p:nvSpPr>
          <p:cNvPr id="9" name="Text 7"/>
          <p:cNvSpPr/>
          <p:nvPr/>
        </p:nvSpPr>
        <p:spPr>
          <a:xfrm>
            <a:off x="859536"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Claude Pro es tecnología de IA vigente y con soporte activo: evita el uso de plataformas obsoletas y mantiene al equipo con herramientas de última generación.</a:t>
            </a:r>
            <a:endParaRPr lang="en-US" sz="1000" dirty="0"/>
          </a:p>
        </p:txBody>
      </p:sp>
      <p:sp>
        <p:nvSpPr>
          <p:cNvPr id="10" name="Shape 8"/>
          <p:cNvSpPr/>
          <p:nvPr/>
        </p:nvSpPr>
        <p:spPr>
          <a:xfrm>
            <a:off x="5422392" y="2487168"/>
            <a:ext cx="4626864" cy="1783080"/>
          </a:xfrm>
          <a:prstGeom prst="roundRect">
            <a:avLst>
              <a:gd name="adj" fmla="val 3077"/>
            </a:avLst>
          </a:prstGeom>
          <a:solidFill>
            <a:srgbClr val="161527"/>
          </a:solidFill>
          <a:ln/>
        </p:spPr>
      </p:sp>
      <p:sp>
        <p:nvSpPr>
          <p:cNvPr id="11" name="Shape 9"/>
          <p:cNvSpPr/>
          <p:nvPr/>
        </p:nvSpPr>
        <p:spPr>
          <a:xfrm>
            <a:off x="5715000" y="2761488"/>
            <a:ext cx="402336" cy="402336"/>
          </a:xfrm>
          <a:prstGeom prst="ellipse">
            <a:avLst/>
          </a:prstGeom>
          <a:solidFill>
            <a:srgbClr val="786CF0"/>
          </a:solidFill>
          <a:ln/>
        </p:spPr>
      </p:sp>
      <p:sp>
        <p:nvSpPr>
          <p:cNvPr id="12" name="Text 10"/>
          <p:cNvSpPr/>
          <p:nvPr/>
        </p:nvSpPr>
        <p:spPr>
          <a:xfrm>
            <a:off x="5715000"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5715000"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Escrituración electrónica</a:t>
            </a:r>
            <a:endParaRPr lang="en-US" sz="1300" dirty="0"/>
          </a:p>
        </p:txBody>
      </p:sp>
      <p:sp>
        <p:nvSpPr>
          <p:cNvPr id="14" name="Text 12"/>
          <p:cNvSpPr/>
          <p:nvPr/>
        </p:nvSpPr>
        <p:spPr>
          <a:xfrm>
            <a:off x="5715000"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Acelera la redacción, revisión y estandarización de actos y documentos administrativos expresados por medios electrónicos.</a:t>
            </a:r>
            <a:endParaRPr lang="en-US" sz="1000" dirty="0"/>
          </a:p>
        </p:txBody>
      </p:sp>
      <p:sp>
        <p:nvSpPr>
          <p:cNvPr id="15" name="Shape 13"/>
          <p:cNvSpPr/>
          <p:nvPr/>
        </p:nvSpPr>
        <p:spPr>
          <a:xfrm>
            <a:off x="566928" y="4453128"/>
            <a:ext cx="4626864" cy="1783080"/>
          </a:xfrm>
          <a:prstGeom prst="roundRect">
            <a:avLst>
              <a:gd name="adj" fmla="val 3077"/>
            </a:avLst>
          </a:prstGeom>
          <a:solidFill>
            <a:srgbClr val="161527"/>
          </a:solidFill>
          <a:ln/>
        </p:spPr>
      </p:sp>
      <p:sp>
        <p:nvSpPr>
          <p:cNvPr id="16" name="Shape 14"/>
          <p:cNvSpPr/>
          <p:nvPr/>
        </p:nvSpPr>
        <p:spPr>
          <a:xfrm>
            <a:off x="859536" y="4727448"/>
            <a:ext cx="402336" cy="402336"/>
          </a:xfrm>
          <a:prstGeom prst="ellipse">
            <a:avLst/>
          </a:prstGeom>
          <a:solidFill>
            <a:srgbClr val="786CF0"/>
          </a:solidFill>
          <a:ln/>
        </p:spPr>
      </p:sp>
      <p:sp>
        <p:nvSpPr>
          <p:cNvPr id="17" name="Text 15"/>
          <p:cNvSpPr/>
          <p:nvPr/>
        </p:nvSpPr>
        <p:spPr>
          <a:xfrm>
            <a:off x="859536"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859536"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Fidelidad del expediente</a:t>
            </a:r>
            <a:endParaRPr lang="en-US" sz="1300" dirty="0"/>
          </a:p>
        </p:txBody>
      </p:sp>
      <p:sp>
        <p:nvSpPr>
          <p:cNvPr id="19" name="Text 17"/>
          <p:cNvSpPr/>
          <p:nvPr/>
        </p:nvSpPr>
        <p:spPr>
          <a:xfrm>
            <a:off x="859536"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Apoya el análisis, resumen y ordenamiento de la documentación, ayudando a mantener registros íntegros y trazables.</a:t>
            </a:r>
            <a:endParaRPr lang="en-US" sz="1000" dirty="0"/>
          </a:p>
        </p:txBody>
      </p:sp>
      <p:sp>
        <p:nvSpPr>
          <p:cNvPr id="20" name="Shape 18"/>
          <p:cNvSpPr/>
          <p:nvPr/>
        </p:nvSpPr>
        <p:spPr>
          <a:xfrm>
            <a:off x="5422392" y="4453128"/>
            <a:ext cx="4626864" cy="1783080"/>
          </a:xfrm>
          <a:prstGeom prst="roundRect">
            <a:avLst>
              <a:gd name="adj" fmla="val 3077"/>
            </a:avLst>
          </a:prstGeom>
          <a:solidFill>
            <a:srgbClr val="161527"/>
          </a:solidFill>
          <a:ln/>
        </p:spPr>
      </p:sp>
      <p:sp>
        <p:nvSpPr>
          <p:cNvPr id="21" name="Shape 19"/>
          <p:cNvSpPr/>
          <p:nvPr/>
        </p:nvSpPr>
        <p:spPr>
          <a:xfrm>
            <a:off x="5715000" y="4727448"/>
            <a:ext cx="402336" cy="402336"/>
          </a:xfrm>
          <a:prstGeom prst="ellipse">
            <a:avLst/>
          </a:prstGeom>
          <a:solidFill>
            <a:srgbClr val="786CF0"/>
          </a:solidFill>
          <a:ln/>
        </p:spPr>
      </p:sp>
      <p:sp>
        <p:nvSpPr>
          <p:cNvPr id="22" name="Text 20"/>
          <p:cNvSpPr/>
          <p:nvPr/>
        </p:nvSpPr>
        <p:spPr>
          <a:xfrm>
            <a:off x="5715000"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715000"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Eficiencia y cooperación</a:t>
            </a:r>
            <a:endParaRPr lang="en-US" sz="1300" dirty="0"/>
          </a:p>
        </p:txBody>
      </p:sp>
      <p:sp>
        <p:nvSpPr>
          <p:cNvPr id="24" name="Text 22"/>
          <p:cNvSpPr/>
          <p:nvPr/>
        </p:nvSpPr>
        <p:spPr>
          <a:xfrm>
            <a:off x="5715000"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Automatiza tareas repetitivas y facilita el trabajo colaborativo entre equipos, liberando tiempo para modernizar los servicios.</a:t>
            </a:r>
            <a:endParaRPr lang="en-US" sz="1000" dirty="0"/>
          </a:p>
        </p:txBody>
      </p:sp>
      <p:sp>
        <p:nvSpPr>
          <p:cNvPr id="25" name="Text 23"/>
          <p:cNvSpPr/>
          <p:nvPr/>
        </p:nvSpPr>
        <p:spPr>
          <a:xfrm>
            <a:off x="566928" y="6858000"/>
            <a:ext cx="9555480" cy="457200"/>
          </a:xfrm>
          <a:prstGeom prst="rect">
            <a:avLst/>
          </a:prstGeom>
          <a:noFill/>
          <a:ln/>
        </p:spPr>
        <p:txBody>
          <a:bodyPr wrap="square" rtlCol="0" anchor="ctr"/>
          <a:lstStyle/>
          <a:p>
            <a:pPr indent="0" marL="0">
              <a:buNone/>
            </a:pPr>
            <a:r>
              <a:rPr lang="en-US" sz="900" i="1" dirty="0">
                <a:solidFill>
                  <a:srgbClr val="8A8F98"/>
                </a:solidFill>
                <a:latin typeface="Arial" pitchFamily="34" charset="0"/>
                <a:ea typeface="Arial" pitchFamily="34" charset="-122"/>
                <a:cs typeface="Arial" pitchFamily="34" charset="-120"/>
              </a:rPr>
              <a:t>Claude Pro es una herramienta de apoyo a la gestión; el cumplimiento normativo depende de los procesos, firmas y plataformas oficiales de SUBSECRETARIA DE REDES ASISTENCIALES. Ley 21.180 — modifica la Ley 19.880.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502920"/>
            <a:ext cx="941832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Cotización formal</a:t>
            </a:r>
            <a:endParaRPr lang="en-US" sz="3000" dirty="0"/>
          </a:p>
        </p:txBody>
      </p:sp>
      <p:sp>
        <p:nvSpPr>
          <p:cNvPr id="3" name="Text 1"/>
          <p:cNvSpPr/>
          <p:nvPr/>
        </p:nvSpPr>
        <p:spPr>
          <a:xfrm>
            <a:off x="640080" y="1170432"/>
            <a:ext cx="9418320" cy="45720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Valores en pesos chilenos (CLP), impuestos incluidos. Licencias Claude Pro por 12 meses, gestión y soporte de KeepSync.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9418320" cy="914400"/>
        </p:xfrm>
        <a:graphic>
          <a:graphicData uri="http://schemas.openxmlformats.org/drawingml/2006/table">
            <a:tbl>
              <a:tblPr/>
              <a:tblGrid>
                <a:gridCol w="3840480"/>
                <a:gridCol w="822960"/>
                <a:gridCol w="822960"/>
                <a:gridCol w="1965960"/>
                <a:gridCol w="196596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Descripción</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Cant.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Meses</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Valor unit. mensual</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Subtotal neto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Licencia cuenta Claude Pro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$16.322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$1.958.666</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bl>
          </a:graphicData>
        </a:graphic>
      </p:graphicFrame>
      <p:sp>
        <p:nvSpPr>
          <p:cNvPr id="5" name="Text 2"/>
          <p:cNvSpPr/>
          <p:nvPr/>
        </p:nvSpPr>
        <p:spPr>
          <a:xfrm>
            <a:off x="6126480" y="3108960"/>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Neto</a:t>
            </a:r>
            <a:endParaRPr lang="en-US" sz="1200" dirty="0"/>
          </a:p>
        </p:txBody>
      </p:sp>
      <p:sp>
        <p:nvSpPr>
          <p:cNvPr id="6" name="Text 3"/>
          <p:cNvSpPr/>
          <p:nvPr/>
        </p:nvSpPr>
        <p:spPr>
          <a:xfrm>
            <a:off x="8229600" y="3108960"/>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$1.958.666</a:t>
            </a:r>
            <a:endParaRPr lang="en-US" sz="1200" dirty="0"/>
          </a:p>
        </p:txBody>
      </p:sp>
      <p:sp>
        <p:nvSpPr>
          <p:cNvPr id="7" name="Text 4"/>
          <p:cNvSpPr/>
          <p:nvPr/>
        </p:nvSpPr>
        <p:spPr>
          <a:xfrm>
            <a:off x="6126480" y="3493008"/>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IVA 19%</a:t>
            </a:r>
            <a:endParaRPr lang="en-US" sz="1200" dirty="0"/>
          </a:p>
        </p:txBody>
      </p:sp>
      <p:sp>
        <p:nvSpPr>
          <p:cNvPr id="8" name="Text 5"/>
          <p:cNvSpPr/>
          <p:nvPr/>
        </p:nvSpPr>
        <p:spPr>
          <a:xfrm>
            <a:off x="8229600" y="3493008"/>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$372.147</a:t>
            </a:r>
            <a:endParaRPr lang="en-US" sz="1200" dirty="0"/>
          </a:p>
        </p:txBody>
      </p:sp>
      <p:sp>
        <p:nvSpPr>
          <p:cNvPr id="9" name="Shape 6"/>
          <p:cNvSpPr/>
          <p:nvPr/>
        </p:nvSpPr>
        <p:spPr>
          <a:xfrm>
            <a:off x="6126480" y="3931920"/>
            <a:ext cx="3931920" cy="548640"/>
          </a:xfrm>
          <a:prstGeom prst="roundRect">
            <a:avLst>
              <a:gd name="adj" fmla="val 10000"/>
            </a:avLst>
          </a:prstGeom>
          <a:solidFill>
            <a:srgbClr val="786CF0"/>
          </a:solidFill>
          <a:ln/>
        </p:spPr>
      </p:sp>
      <p:sp>
        <p:nvSpPr>
          <p:cNvPr id="10" name="Text 7"/>
          <p:cNvSpPr/>
          <p:nvPr/>
        </p:nvSpPr>
        <p:spPr>
          <a:xfrm>
            <a:off x="6126480" y="4023360"/>
            <a:ext cx="21031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TOTAL</a:t>
            </a:r>
            <a:endParaRPr lang="en-US" sz="1500" dirty="0"/>
          </a:p>
        </p:txBody>
      </p:sp>
      <p:sp>
        <p:nvSpPr>
          <p:cNvPr id="11" name="Text 8"/>
          <p:cNvSpPr/>
          <p:nvPr/>
        </p:nvSpPr>
        <p:spPr>
          <a:xfrm>
            <a:off x="8229600" y="4023360"/>
            <a:ext cx="1828800" cy="365760"/>
          </a:xfrm>
          <a:prstGeom prst="rect">
            <a:avLst/>
          </a:prstGeom>
          <a:noFill/>
          <a:ln/>
        </p:spPr>
        <p:txBody>
          <a:bodyPr wrap="square"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$2.330.813</a:t>
            </a:r>
            <a:endParaRPr lang="en-US" sz="1500" dirty="0"/>
          </a:p>
        </p:txBody>
      </p:sp>
      <p:sp>
        <p:nvSpPr>
          <p:cNvPr id="12" name="Text 9"/>
          <p:cNvSpPr/>
          <p:nvPr/>
        </p:nvSpPr>
        <p:spPr>
          <a:xfrm>
            <a:off x="640080" y="3108960"/>
            <a:ext cx="5212080" cy="365760"/>
          </a:xfrm>
          <a:prstGeom prst="rect">
            <a:avLst/>
          </a:prstGeom>
          <a:noFill/>
          <a:ln/>
        </p:spPr>
        <p:txBody>
          <a:bodyPr wrap="square" rtlCol="0" anchor="ctr"/>
          <a:lstStyle/>
          <a:p>
            <a:pPr indent="0" marL="0">
              <a:buNone/>
            </a:pPr>
            <a:r>
              <a:rPr lang="en-US" sz="1100" dirty="0">
                <a:solidFill>
                  <a:srgbClr val="B4AAFA"/>
                </a:solidFill>
                <a:latin typeface="Arial" pitchFamily="34" charset="0"/>
                <a:ea typeface="Arial" pitchFamily="34" charset="-122"/>
                <a:cs typeface="Arial" pitchFamily="34" charset="-120"/>
              </a:rPr>
              <a:t>Oferta bajo el presupuesto disponible de $3.500.000</a:t>
            </a:r>
            <a:endParaRPr lang="en-US" sz="1100" dirty="0"/>
          </a:p>
        </p:txBody>
      </p:sp>
      <p:sp>
        <p:nvSpPr>
          <p:cNvPr id="13" name="Text 10"/>
          <p:cNvSpPr/>
          <p:nvPr/>
        </p:nvSpPr>
        <p:spPr>
          <a:xfrm>
            <a:off x="640080" y="4709160"/>
            <a:ext cx="94183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Condiciones comerciales</a:t>
            </a:r>
            <a:endParaRPr lang="en-US" sz="1400" dirty="0"/>
          </a:p>
        </p:txBody>
      </p:sp>
      <p:sp>
        <p:nvSpPr>
          <p:cNvPr id="14" name="Text 11"/>
          <p:cNvSpPr/>
          <p:nvPr/>
        </p:nvSpPr>
        <p:spPr>
          <a:xfrm>
            <a:off x="640080" y="5074920"/>
            <a:ext cx="9418320" cy="1188720"/>
          </a:xfrm>
          <a:prstGeom prst="rect">
            <a:avLst/>
          </a:prstGeom>
          <a:noFill/>
          <a:ln/>
        </p:spPr>
        <p:txBody>
          <a:bodyPr wrap="square" rtlCol="0" anchor="ctr"/>
          <a:lstStyle/>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Plazo de entrega / activación: 5 día(s) hábil(es) desde la adjudicación.</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Valor de despacho / entrega digital incluido en el monto total.</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Proveedor con habilidad vigente en el Sistema de Información (Mercado Público).</a:t>
            </a:r>
            <a:endParaRPr lang="en-US" sz="1100" dirty="0"/>
          </a:p>
        </p:txBody>
      </p:sp>
      <p:sp>
        <p:nvSpPr>
          <p:cNvPr id="15" name="Text 12"/>
          <p:cNvSpPr/>
          <p:nvPr/>
        </p:nvSpPr>
        <p:spPr>
          <a:xfrm>
            <a:off x="640080" y="7086600"/>
            <a:ext cx="9418320" cy="3200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KeepSync   —   cristian.molina@keepsync.ai   —   Válido por 30 días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2026-08-12T17:46:36Z</dcterms:created>
  <dcterms:modified xsi:type="dcterms:W3CDTF">2026-08-12T17:46:36Z</dcterms:modified>
</cp:coreProperties>
</file>