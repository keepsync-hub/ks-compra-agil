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71816" y="32004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FF4D4D"/>
          </a:solidFill>
          <a:ln/>
        </p:spPr>
      </p:sp>
      <p:sp>
        <p:nvSpPr>
          <p:cNvPr id="3" name="Text 1"/>
          <p:cNvSpPr/>
          <p:nvPr/>
        </p:nvSpPr>
        <p:spPr>
          <a:xfrm>
            <a:off x="7671816" y="320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BORRADOR — identidad KeepSync sin confirmar</a:t>
            </a:r>
            <a:endParaRPr lang="en-US" sz="900" dirty="0"/>
          </a:p>
        </p:txBody>
      </p:sp>
      <p:pic>
        <p:nvPicPr>
          <p:cNvPr id="4" name="Image 0" descr="/home/user/ks-compra-agil/src/assets/logo-keepsync-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914400" cy="8961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27632" y="71323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KeepSync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274320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COMERCIAL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40080" y="320040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4A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Licencias Claude Pro para SUPERINTENDENCIA DE ELECTRICIDAD Y COMBUSTIBLES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0080" y="46177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 a solicitud de Compra Ágil — 1614-47-COT26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5257800"/>
            <a:ext cx="9418320" cy="1417320"/>
          </a:xfrm>
          <a:prstGeom prst="roundRect">
            <a:avLst>
              <a:gd name="adj" fmla="val 5161"/>
            </a:avLst>
          </a:prstGeom>
          <a:solidFill>
            <a:srgbClr val="161527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5394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017520" y="53949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SUPERINTENDENCIA DE ELECTRICIDAD Y COMBUSTIBLES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14400" y="5760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017520" y="5760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SC-182 Suscripción de Claude Pro por 12 meses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14400" y="6126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DIRIGIDO A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017520" y="61264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Avenida Bernardo O´Higgins 1465  Torre 1 Piso 13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" y="699516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Presentado por KeepSync  —  agosto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Solución propuesta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cuentas Claude Pro por 12 meses, con acceso al asistente de IA de Anthropic para el equipo de SUPERINTENDENCIA DE ELECTRICIDAD Y COMBUSTIBLES.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926080" cy="1737360"/>
          </a:xfrm>
          <a:prstGeom prst="roundRect">
            <a:avLst>
              <a:gd name="adj" fmla="val 3158"/>
            </a:avLst>
          </a:prstGeom>
          <a:solidFill>
            <a:srgbClr val="16152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365760" cy="365760"/>
          </a:xfrm>
          <a:prstGeom prst="ellipse">
            <a:avLst/>
          </a:prstGeom>
          <a:solidFill>
            <a:srgbClr val="786CF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 ampliada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88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significativamente mayor que el plan gratuito, con acceso prioritario en horas de alta demanda.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94760" y="1691640"/>
            <a:ext cx="2926080" cy="1737360"/>
          </a:xfrm>
          <a:prstGeom prst="roundRect">
            <a:avLst>
              <a:gd name="adj" fmla="val 3158"/>
            </a:avLst>
          </a:prstGeom>
          <a:solidFill>
            <a:srgbClr val="161527"/>
          </a:solidFill>
          <a:ln/>
        </p:spPr>
      </p:sp>
      <p:sp>
        <p:nvSpPr>
          <p:cNvPr id="10" name="Shape 8"/>
          <p:cNvSpPr/>
          <p:nvPr/>
        </p:nvSpPr>
        <p:spPr>
          <a:xfrm>
            <a:off x="4023360" y="1920240"/>
            <a:ext cx="365760" cy="365760"/>
          </a:xfrm>
          <a:prstGeom prst="ellipse">
            <a:avLst/>
          </a:prstGeom>
          <a:solidFill>
            <a:srgbClr val="786CF0"/>
          </a:solidFill>
          <a:ln/>
        </p:spPr>
      </p:sp>
      <p:sp>
        <p:nvSpPr>
          <p:cNvPr id="11" name="Text 9"/>
          <p:cNvSpPr/>
          <p:nvPr/>
        </p:nvSpPr>
        <p:spPr>
          <a:xfrm>
            <a:off x="402336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0" y="2423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avanzados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23360" y="2788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los modelos más capaces de Claude para redacción, análisis de documentos, código y automatización.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49440" y="1691640"/>
            <a:ext cx="2926080" cy="1737360"/>
          </a:xfrm>
          <a:prstGeom prst="roundRect">
            <a:avLst>
              <a:gd name="adj" fmla="val 3158"/>
            </a:avLst>
          </a:prstGeom>
          <a:solidFill>
            <a:srgbClr val="161527"/>
          </a:solidFill>
          <a:ln/>
        </p:spPr>
      </p:sp>
      <p:sp>
        <p:nvSpPr>
          <p:cNvPr id="15" name="Shape 13"/>
          <p:cNvSpPr/>
          <p:nvPr/>
        </p:nvSpPr>
        <p:spPr>
          <a:xfrm>
            <a:off x="7178040" y="1920240"/>
            <a:ext cx="365760" cy="365760"/>
          </a:xfrm>
          <a:prstGeom prst="ellipse">
            <a:avLst/>
          </a:prstGeom>
          <a:solidFill>
            <a:srgbClr val="786CF0"/>
          </a:solidFill>
          <a:ln/>
        </p:spPr>
      </p:sp>
      <p:sp>
        <p:nvSpPr>
          <p:cNvPr id="16" name="Text 14"/>
          <p:cNvSpPr/>
          <p:nvPr/>
        </p:nvSpPr>
        <p:spPr>
          <a:xfrm>
            <a:off x="717804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78040" y="2423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de trabajo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78040" y="2788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Proyectos, carga de archivos y funciones de investigación y razonamiento extendido para tareas complejas.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70332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Cumplimiento del requerimiento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4178808"/>
            <a:ext cx="256032" cy="256032"/>
          </a:xfrm>
          <a:prstGeom prst="ellipse">
            <a:avLst/>
          </a:prstGeom>
          <a:solidFill>
            <a:srgbClr val="786CF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1788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05840" y="416052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Producto/servicio — 4 licencias Claude Pro — 12 meses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562856"/>
            <a:ext cx="256032" cy="256032"/>
          </a:xfrm>
          <a:prstGeom prst="ellipse">
            <a:avLst/>
          </a:prstGeom>
          <a:solidFill>
            <a:srgbClr val="786CF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5628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05840" y="4544568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Plazo de entrega — activación en 5 días hábil(es)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4946904"/>
            <a:ext cx="256032" cy="256032"/>
          </a:xfrm>
          <a:prstGeom prst="ellipse">
            <a:avLst/>
          </a:prstGeom>
          <a:solidFill>
            <a:srgbClr val="786CF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9469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05840" y="4928616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Despacho digital — incluido en el valor total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69037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Proveedor hábil en el Sistema de Información (Mercado Público) — Cotización formal adjunta con el detalle de lo ofertado.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A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NORMATIVO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Alineación con la Ley 21.180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700784"/>
            <a:ext cx="9555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 de Transformación Digital del Estado (Art. 16 bis). Las licencias Claude Pro potencian al equipo de SUPERINTENDENCIA DE ELECTRICIDAD Y COMBUSTIBLES para operar bajo los principios que la ley establece en la tramitación electrónica de los procedimientos administrativos.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487168"/>
            <a:ext cx="4626864" cy="1783080"/>
          </a:xfrm>
          <a:prstGeom prst="roundRect">
            <a:avLst>
              <a:gd name="adj" fmla="val 3077"/>
            </a:avLst>
          </a:prstGeom>
          <a:solidFill>
            <a:srgbClr val="161527"/>
          </a:solidFill>
          <a:ln/>
        </p:spPr>
      </p:sp>
      <p:sp>
        <p:nvSpPr>
          <p:cNvPr id="6" name="Shape 4"/>
          <p:cNvSpPr/>
          <p:nvPr/>
        </p:nvSpPr>
        <p:spPr>
          <a:xfrm>
            <a:off x="859536" y="2761488"/>
            <a:ext cx="402336" cy="402336"/>
          </a:xfrm>
          <a:prstGeom prst="ellipse">
            <a:avLst/>
          </a:prstGeom>
          <a:solidFill>
            <a:srgbClr val="786CF0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" y="27614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" y="3273552"/>
            <a:ext cx="4078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Actualización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" y="3621024"/>
            <a:ext cx="4078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Pro es tecnología de IA vigente y con soporte activo: evita el uso de plataformas obsoletas y mantiene al equipo con herramientas de última generación.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22392" y="2487168"/>
            <a:ext cx="4626864" cy="1783080"/>
          </a:xfrm>
          <a:prstGeom prst="roundRect">
            <a:avLst>
              <a:gd name="adj" fmla="val 3077"/>
            </a:avLst>
          </a:prstGeom>
          <a:solidFill>
            <a:srgbClr val="161527"/>
          </a:solidFill>
          <a:ln/>
        </p:spPr>
      </p:sp>
      <p:sp>
        <p:nvSpPr>
          <p:cNvPr id="11" name="Shape 9"/>
          <p:cNvSpPr/>
          <p:nvPr/>
        </p:nvSpPr>
        <p:spPr>
          <a:xfrm>
            <a:off x="5715000" y="2761488"/>
            <a:ext cx="402336" cy="402336"/>
          </a:xfrm>
          <a:prstGeom prst="ellipse">
            <a:avLst/>
          </a:prstGeom>
          <a:solidFill>
            <a:srgbClr val="786CF0"/>
          </a:solidFill>
          <a:ln/>
        </p:spPr>
      </p:sp>
      <p:sp>
        <p:nvSpPr>
          <p:cNvPr id="12" name="Text 10"/>
          <p:cNvSpPr/>
          <p:nvPr/>
        </p:nvSpPr>
        <p:spPr>
          <a:xfrm>
            <a:off x="5715000" y="27614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15000" y="3273552"/>
            <a:ext cx="4078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Escrituración electrónica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715000" y="3621024"/>
            <a:ext cx="4078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Acelera la redacción, revisión y estandarización de actos y documentos administrativos expresados por medios electrónicos.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" y="4453128"/>
            <a:ext cx="4626864" cy="1783080"/>
          </a:xfrm>
          <a:prstGeom prst="roundRect">
            <a:avLst>
              <a:gd name="adj" fmla="val 3077"/>
            </a:avLst>
          </a:prstGeom>
          <a:solidFill>
            <a:srgbClr val="161527"/>
          </a:solidFill>
          <a:ln/>
        </p:spPr>
      </p:sp>
      <p:sp>
        <p:nvSpPr>
          <p:cNvPr id="16" name="Shape 14"/>
          <p:cNvSpPr/>
          <p:nvPr/>
        </p:nvSpPr>
        <p:spPr>
          <a:xfrm>
            <a:off x="859536" y="4727448"/>
            <a:ext cx="402336" cy="402336"/>
          </a:xfrm>
          <a:prstGeom prst="ellipse">
            <a:avLst/>
          </a:prstGeom>
          <a:solidFill>
            <a:srgbClr val="786CF0"/>
          </a:solidFill>
          <a:ln/>
        </p:spPr>
      </p:sp>
      <p:sp>
        <p:nvSpPr>
          <p:cNvPr id="17" name="Text 15"/>
          <p:cNvSpPr/>
          <p:nvPr/>
        </p:nvSpPr>
        <p:spPr>
          <a:xfrm>
            <a:off x="859536" y="47274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9536" y="5239512"/>
            <a:ext cx="4078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Fidelidad del expediente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9536" y="5586984"/>
            <a:ext cx="4078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Apoya el análisis, resumen y ordenamiento de la documentación, ayudando a mantener registros íntegros y trazables.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22392" y="4453128"/>
            <a:ext cx="4626864" cy="1783080"/>
          </a:xfrm>
          <a:prstGeom prst="roundRect">
            <a:avLst>
              <a:gd name="adj" fmla="val 3077"/>
            </a:avLst>
          </a:prstGeom>
          <a:solidFill>
            <a:srgbClr val="161527"/>
          </a:solidFill>
          <a:ln/>
        </p:spPr>
      </p:sp>
      <p:sp>
        <p:nvSpPr>
          <p:cNvPr id="21" name="Shape 19"/>
          <p:cNvSpPr/>
          <p:nvPr/>
        </p:nvSpPr>
        <p:spPr>
          <a:xfrm>
            <a:off x="5715000" y="4727448"/>
            <a:ext cx="402336" cy="402336"/>
          </a:xfrm>
          <a:prstGeom prst="ellipse">
            <a:avLst/>
          </a:prstGeom>
          <a:solidFill>
            <a:srgbClr val="786CF0"/>
          </a:solidFill>
          <a:ln/>
        </p:spPr>
      </p:sp>
      <p:sp>
        <p:nvSpPr>
          <p:cNvPr id="22" name="Text 20"/>
          <p:cNvSpPr/>
          <p:nvPr/>
        </p:nvSpPr>
        <p:spPr>
          <a:xfrm>
            <a:off x="5715000" y="47274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15000" y="5239512"/>
            <a:ext cx="4078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Eficiencia y cooperación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15000" y="5586984"/>
            <a:ext cx="4078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 tareas repetitivas y facilita el trabajo colaborativo entre equipos, liberando tiempo para modernizar los servicios.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" y="6858000"/>
            <a:ext cx="9555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Pro es una herramienta de apoyo a la gestión; el cumplimiento normativo depende de los procesos, firmas y plataformas oficiales de SUPERINTENDENCIA DE ELECTRICIDAD Y COMBUSTIBLES. Ley 21.180 — modifica la Ley 19.880.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71816" y="32004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FF4D4D"/>
          </a:solidFill>
          <a:ln/>
        </p:spPr>
      </p:sp>
      <p:sp>
        <p:nvSpPr>
          <p:cNvPr id="3" name="Text 1"/>
          <p:cNvSpPr/>
          <p:nvPr/>
        </p:nvSpPr>
        <p:spPr>
          <a:xfrm>
            <a:off x="7671816" y="320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BORRADOR — identidad KeepSync sin confirmar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Cotización formal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170432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 en pesos chilenos (CLP), impuestos incluidos. Licencias Claude Pro por 12 meses, gestión y soporte de KeepSync.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941832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822960"/>
                <a:gridCol w="822960"/>
                <a:gridCol w="1965960"/>
                <a:gridCol w="1965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Descripción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Cant.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Meses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unit. mensual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Subtotal neto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Licencia cuenta Claude Pro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$16.356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$785.086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126480" y="3108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$785.086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126480" y="349300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IVA 19%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0" y="34930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$149.166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26480" y="3931920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786CF0"/>
          </a:solidFill>
          <a:ln/>
        </p:spPr>
      </p:sp>
      <p:sp>
        <p:nvSpPr>
          <p:cNvPr id="12" name="Text 9"/>
          <p:cNvSpPr/>
          <p:nvPr/>
        </p:nvSpPr>
        <p:spPr>
          <a:xfrm>
            <a:off x="6126480" y="4023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229600" y="4023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$934.252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40080" y="31089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A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Oferta bajo el presupuesto disponible de $1.300.000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470916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Condiciones comerciales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0080" y="5074920"/>
            <a:ext cx="9418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Plazo de entrega / activación: 5 día(s) hábil(es) desde la adjudicación.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Valor de despacho / entrega digital incluido en el monto total.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Proveedor con habilidad vigente en el Sistema de Información (Mercado Público).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Condiciones excluyentes detectadas en las bases: no serán consideradas ofertas sobre el presupuesto disponible de $1.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0080" y="708660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KeepSync   —   claudio.antonio@kompu.cl   —   BORRADOR: RUT y razón social pendientes de confirmar antes de enviar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2026-08-11T06:05:39Z</dcterms:created>
  <dcterms:modified xsi:type="dcterms:W3CDTF">2026-08-11T06:05:39Z</dcterms:modified>
</cp:coreProperties>
</file>