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E17"/>
        </a:solidFill>
      </p:bgPr>
    </p:bg>
    <p:spTree>
      <p:nvGrpSpPr>
        <p:cNvPr id="1" name=""/>
        <p:cNvGrpSpPr/>
        <p:nvPr/>
      </p:nvGrpSpPr>
      <p:grpSpPr>
        <a:xfrm>
          <a:off x="0" y="0"/>
          <a:ext cx="0" cy="0"/>
          <a:chOff x="0" y="0"/>
          <a:chExt cx="0" cy="0"/>
        </a:xfrm>
      </p:grpSpPr>
      <p:pic>
        <p:nvPicPr>
          <p:cNvPr id="2" name="Image 0" descr="/home/user/ks-compra-agil/src/assets/logo-keepsync-blanco.png">    </p:cNvPr>
          <p:cNvPicPr>
            <a:picLocks noChangeAspect="1"/>
          </p:cNvPicPr>
          <p:nvPr/>
        </p:nvPicPr>
        <p:blipFill>
          <a:blip r:embed="rId1"/>
          <a:stretch>
            <a:fillRect/>
          </a:stretch>
        </p:blipFill>
        <p:spPr>
          <a:xfrm>
            <a:off x="640080" y="548640"/>
            <a:ext cx="914400" cy="896112"/>
          </a:xfrm>
          <a:prstGeom prst="rect">
            <a:avLst/>
          </a:prstGeom>
        </p:spPr>
      </p:pic>
      <p:sp>
        <p:nvSpPr>
          <p:cNvPr id="3" name="Text 0"/>
          <p:cNvSpPr/>
          <p:nvPr/>
        </p:nvSpPr>
        <p:spPr>
          <a:xfrm>
            <a:off x="1627632" y="713232"/>
            <a:ext cx="3657600" cy="5486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KeepSync</a:t>
            </a:r>
            <a:endParaRPr lang="en-US" sz="2400" dirty="0"/>
          </a:p>
        </p:txBody>
      </p:sp>
      <p:sp>
        <p:nvSpPr>
          <p:cNvPr id="4" name="Text 1"/>
          <p:cNvSpPr/>
          <p:nvPr/>
        </p:nvSpPr>
        <p:spPr>
          <a:xfrm>
            <a:off x="640080" y="2743200"/>
            <a:ext cx="9418320" cy="54864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PROPUESTA COMERCIAL</a:t>
            </a:r>
            <a:endParaRPr lang="en-US" sz="3200" dirty="0"/>
          </a:p>
        </p:txBody>
      </p:sp>
      <p:sp>
        <p:nvSpPr>
          <p:cNvPr id="5" name="Text 2"/>
          <p:cNvSpPr/>
          <p:nvPr/>
        </p:nvSpPr>
        <p:spPr>
          <a:xfrm>
            <a:off x="640080" y="3200400"/>
            <a:ext cx="9418320" cy="914400"/>
          </a:xfrm>
          <a:prstGeom prst="rect">
            <a:avLst/>
          </a:prstGeom>
          <a:noFill/>
          <a:ln/>
        </p:spPr>
        <p:txBody>
          <a:bodyPr wrap="square" rtlCol="0" anchor="ctr"/>
          <a:lstStyle/>
          <a:p>
            <a:pPr indent="0" marL="0">
              <a:buNone/>
            </a:pPr>
            <a:r>
              <a:rPr lang="en-US" sz="2200" dirty="0">
                <a:solidFill>
                  <a:srgbClr val="B4AAFA"/>
                </a:solidFill>
                <a:latin typeface="Arial" pitchFamily="34" charset="0"/>
                <a:ea typeface="Arial" pitchFamily="34" charset="-122"/>
                <a:cs typeface="Arial" pitchFamily="34" charset="-120"/>
              </a:rPr>
              <a:t>Licencias Claude Team (asiento estándar) para MUNICIPALIDAD DE VITACURA</a:t>
            </a:r>
            <a:endParaRPr lang="en-US" sz="2200" dirty="0"/>
          </a:p>
        </p:txBody>
      </p:sp>
      <p:sp>
        <p:nvSpPr>
          <p:cNvPr id="6" name="Text 3"/>
          <p:cNvSpPr/>
          <p:nvPr/>
        </p:nvSpPr>
        <p:spPr>
          <a:xfrm>
            <a:off x="640080" y="4617720"/>
            <a:ext cx="9418320" cy="457200"/>
          </a:xfrm>
          <a:prstGeom prst="rect">
            <a:avLst/>
          </a:prstGeom>
          <a:noFill/>
          <a:ln/>
        </p:spPr>
        <p:txBody>
          <a:bodyPr wrap="square" rtlCol="0" anchor="ctr"/>
          <a:lstStyle/>
          <a:p>
            <a:pPr indent="0" marL="0">
              <a:buNone/>
            </a:pPr>
            <a:r>
              <a:rPr lang="en-US" sz="1400" dirty="0">
                <a:solidFill>
                  <a:srgbClr val="8A8F98"/>
                </a:solidFill>
                <a:latin typeface="Arial" pitchFamily="34" charset="0"/>
                <a:ea typeface="Arial" pitchFamily="34" charset="-122"/>
                <a:cs typeface="Arial" pitchFamily="34" charset="-120"/>
              </a:rPr>
              <a:t>Respuesta a solicitud de Compra Ágil — 1480134-12-COT26</a:t>
            </a:r>
            <a:endParaRPr lang="en-US" sz="1400" dirty="0"/>
          </a:p>
        </p:txBody>
      </p:sp>
      <p:sp>
        <p:nvSpPr>
          <p:cNvPr id="7" name="Shape 4"/>
          <p:cNvSpPr/>
          <p:nvPr/>
        </p:nvSpPr>
        <p:spPr>
          <a:xfrm>
            <a:off x="640080" y="5257800"/>
            <a:ext cx="9418320" cy="1417320"/>
          </a:xfrm>
          <a:prstGeom prst="roundRect">
            <a:avLst>
              <a:gd name="adj" fmla="val 5161"/>
            </a:avLst>
          </a:prstGeom>
          <a:solidFill>
            <a:srgbClr val="161527"/>
          </a:solidFill>
          <a:ln/>
        </p:spPr>
      </p:sp>
      <p:sp>
        <p:nvSpPr>
          <p:cNvPr id="8" name="Text 5"/>
          <p:cNvSpPr/>
          <p:nvPr/>
        </p:nvSpPr>
        <p:spPr>
          <a:xfrm>
            <a:off x="914400" y="5394960"/>
            <a:ext cx="2103120" cy="365760"/>
          </a:xfrm>
          <a:prstGeom prst="rect">
            <a:avLst/>
          </a:prstGeom>
          <a:noFill/>
          <a:ln/>
        </p:spPr>
        <p:txBody>
          <a:bodyPr wrap="square" rtlCol="0" anchor="ctr"/>
          <a:lstStyle/>
          <a:p>
            <a:pPr indent="0" marL="0">
              <a:buNone/>
            </a:pPr>
            <a:r>
              <a:rPr lang="en-US" sz="1100" b="1" dirty="0">
                <a:solidFill>
                  <a:srgbClr val="8A8F98"/>
                </a:solidFill>
                <a:latin typeface="Arial" pitchFamily="34" charset="0"/>
                <a:ea typeface="Arial" pitchFamily="34" charset="-122"/>
                <a:cs typeface="Arial" pitchFamily="34" charset="-120"/>
              </a:rPr>
              <a:t>CLIENTE</a:t>
            </a:r>
            <a:endParaRPr lang="en-US" sz="1100" dirty="0"/>
          </a:p>
        </p:txBody>
      </p:sp>
      <p:sp>
        <p:nvSpPr>
          <p:cNvPr id="9" name="Text 6"/>
          <p:cNvSpPr/>
          <p:nvPr/>
        </p:nvSpPr>
        <p:spPr>
          <a:xfrm>
            <a:off x="3017520" y="5394960"/>
            <a:ext cx="6858000" cy="36576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MUNICIPALIDAD DE VITACURA</a:t>
            </a:r>
            <a:endParaRPr lang="en-US" sz="1300" dirty="0"/>
          </a:p>
        </p:txBody>
      </p:sp>
      <p:sp>
        <p:nvSpPr>
          <p:cNvPr id="10" name="Text 7"/>
          <p:cNvSpPr/>
          <p:nvPr/>
        </p:nvSpPr>
        <p:spPr>
          <a:xfrm>
            <a:off x="914400" y="5760720"/>
            <a:ext cx="2103120" cy="365760"/>
          </a:xfrm>
          <a:prstGeom prst="rect">
            <a:avLst/>
          </a:prstGeom>
          <a:noFill/>
          <a:ln/>
        </p:spPr>
        <p:txBody>
          <a:bodyPr wrap="square" rtlCol="0" anchor="ctr"/>
          <a:lstStyle/>
          <a:p>
            <a:pPr indent="0" marL="0">
              <a:buNone/>
            </a:pPr>
            <a:r>
              <a:rPr lang="en-US" sz="1100" b="1" dirty="0">
                <a:solidFill>
                  <a:srgbClr val="8A8F98"/>
                </a:solidFill>
                <a:latin typeface="Arial" pitchFamily="34" charset="0"/>
                <a:ea typeface="Arial" pitchFamily="34" charset="-122"/>
                <a:cs typeface="Arial" pitchFamily="34" charset="-120"/>
              </a:rPr>
              <a:t>PROYECTO</a:t>
            </a:r>
            <a:endParaRPr lang="en-US" sz="1100" dirty="0"/>
          </a:p>
        </p:txBody>
      </p:sp>
      <p:sp>
        <p:nvSpPr>
          <p:cNvPr id="11" name="Text 8"/>
          <p:cNvSpPr/>
          <p:nvPr/>
        </p:nvSpPr>
        <p:spPr>
          <a:xfrm>
            <a:off x="3017520" y="5760720"/>
            <a:ext cx="6858000" cy="36576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PTR 437. CONTRATACION DE LICENCIA DE SOFTWARE DE ASISTENCIA POR I.A. CLAUDE TEAM PLAN, POR 5 MESES. CONSIDERA 10 ASIENTOS DE CATEGORÍA STANDARD SEAT CON ACCESO A TODAS LAS FUNCIONES. ANEXAR FICHA.</a:t>
            </a:r>
            <a:endParaRPr lang="en-US" sz="1300" dirty="0"/>
          </a:p>
        </p:txBody>
      </p:sp>
      <p:sp>
        <p:nvSpPr>
          <p:cNvPr id="12" name="Text 9"/>
          <p:cNvSpPr/>
          <p:nvPr/>
        </p:nvSpPr>
        <p:spPr>
          <a:xfrm>
            <a:off x="914400" y="6126480"/>
            <a:ext cx="2103120" cy="365760"/>
          </a:xfrm>
          <a:prstGeom prst="rect">
            <a:avLst/>
          </a:prstGeom>
          <a:noFill/>
          <a:ln/>
        </p:spPr>
        <p:txBody>
          <a:bodyPr wrap="square" rtlCol="0" anchor="ctr"/>
          <a:lstStyle/>
          <a:p>
            <a:pPr indent="0" marL="0">
              <a:buNone/>
            </a:pPr>
            <a:r>
              <a:rPr lang="en-US" sz="1100" b="1" dirty="0">
                <a:solidFill>
                  <a:srgbClr val="8A8F98"/>
                </a:solidFill>
                <a:latin typeface="Arial" pitchFamily="34" charset="0"/>
                <a:ea typeface="Arial" pitchFamily="34" charset="-122"/>
                <a:cs typeface="Arial" pitchFamily="34" charset="-120"/>
              </a:rPr>
              <a:t>DIRIGIDO A</a:t>
            </a:r>
            <a:endParaRPr lang="en-US" sz="1100" dirty="0"/>
          </a:p>
        </p:txBody>
      </p:sp>
      <p:sp>
        <p:nvSpPr>
          <p:cNvPr id="13" name="Text 10"/>
          <p:cNvSpPr/>
          <p:nvPr/>
        </p:nvSpPr>
        <p:spPr>
          <a:xfrm>
            <a:off x="3017520" y="6126480"/>
            <a:ext cx="6858000" cy="36576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AVENIDA BICENTENARIO N°3800</a:t>
            </a:r>
            <a:endParaRPr lang="en-US" sz="1300" dirty="0"/>
          </a:p>
        </p:txBody>
      </p:sp>
      <p:sp>
        <p:nvSpPr>
          <p:cNvPr id="14" name="Text 11"/>
          <p:cNvSpPr/>
          <p:nvPr/>
        </p:nvSpPr>
        <p:spPr>
          <a:xfrm>
            <a:off x="640080" y="6995160"/>
            <a:ext cx="9418320" cy="320040"/>
          </a:xfrm>
          <a:prstGeom prst="rect">
            <a:avLst/>
          </a:prstGeom>
          <a:noFill/>
          <a:ln/>
        </p:spPr>
        <p:txBody>
          <a:bodyPr wrap="square" rtlCol="0" anchor="ctr"/>
          <a:lstStyle/>
          <a:p>
            <a:pPr indent="0" marL="0">
              <a:buNone/>
            </a:pPr>
            <a:r>
              <a:rPr lang="en-US" sz="1100" dirty="0">
                <a:solidFill>
                  <a:srgbClr val="8A8F98"/>
                </a:solidFill>
                <a:latin typeface="Arial" pitchFamily="34" charset="0"/>
                <a:ea typeface="Arial" pitchFamily="34" charset="-122"/>
                <a:cs typeface="Arial" pitchFamily="34" charset="-120"/>
              </a:rPr>
              <a:t>Presentado por KeepSync  —  agosto de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E17"/>
        </a:solidFill>
      </p:bgPr>
    </p:bg>
    <p:spTree>
      <p:nvGrpSpPr>
        <p:cNvPr id="1" name=""/>
        <p:cNvGrpSpPr/>
        <p:nvPr/>
      </p:nvGrpSpPr>
      <p:grpSpPr>
        <a:xfrm>
          <a:off x="0" y="0"/>
          <a:ext cx="0" cy="0"/>
          <a:chOff x="0" y="0"/>
          <a:chExt cx="0" cy="0"/>
        </a:xfrm>
      </p:grpSpPr>
      <p:sp>
        <p:nvSpPr>
          <p:cNvPr id="2" name="Text 0"/>
          <p:cNvSpPr/>
          <p:nvPr/>
        </p:nvSpPr>
        <p:spPr>
          <a:xfrm>
            <a:off x="640080" y="457200"/>
            <a:ext cx="9418320" cy="4572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Solución propuesta</a:t>
            </a:r>
            <a:endParaRPr lang="en-US" sz="2800" dirty="0"/>
          </a:p>
        </p:txBody>
      </p:sp>
      <p:sp>
        <p:nvSpPr>
          <p:cNvPr id="3" name="Text 1"/>
          <p:cNvSpPr/>
          <p:nvPr/>
        </p:nvSpPr>
        <p:spPr>
          <a:xfrm>
            <a:off x="640080" y="960120"/>
            <a:ext cx="9418320" cy="502920"/>
          </a:xfrm>
          <a:prstGeom prst="rect">
            <a:avLst/>
          </a:prstGeom>
          <a:noFill/>
          <a:ln/>
        </p:spPr>
        <p:txBody>
          <a:bodyPr wrap="square" rtlCol="0" anchor="ctr"/>
          <a:lstStyle/>
          <a:p>
            <a:pPr indent="0" marL="0">
              <a:buNone/>
            </a:pPr>
            <a:r>
              <a:rPr lang="en-US" sz="1400" dirty="0">
                <a:solidFill>
                  <a:srgbClr val="8A8F98"/>
                </a:solidFill>
                <a:latin typeface="Arial" pitchFamily="34" charset="0"/>
                <a:ea typeface="Arial" pitchFamily="34" charset="-122"/>
                <a:cs typeface="Arial" pitchFamily="34" charset="-120"/>
              </a:rPr>
              <a:t>10 cuentas Claude Team (asiento estándar) por 5 meses, con acceso al asistente de IA de Anthropic para el equipo de MUNICIPALIDAD DE VITACURA.</a:t>
            </a:r>
            <a:endParaRPr lang="en-US" sz="1400" dirty="0"/>
          </a:p>
        </p:txBody>
      </p:sp>
      <p:sp>
        <p:nvSpPr>
          <p:cNvPr id="4" name="Shape 2"/>
          <p:cNvSpPr/>
          <p:nvPr/>
        </p:nvSpPr>
        <p:spPr>
          <a:xfrm>
            <a:off x="640080" y="1691640"/>
            <a:ext cx="2926080" cy="1737360"/>
          </a:xfrm>
          <a:prstGeom prst="roundRect">
            <a:avLst>
              <a:gd name="adj" fmla="val 3158"/>
            </a:avLst>
          </a:prstGeom>
          <a:solidFill>
            <a:srgbClr val="161527"/>
          </a:solidFill>
          <a:ln/>
        </p:spPr>
      </p:sp>
      <p:sp>
        <p:nvSpPr>
          <p:cNvPr id="5" name="Shape 3"/>
          <p:cNvSpPr/>
          <p:nvPr/>
        </p:nvSpPr>
        <p:spPr>
          <a:xfrm>
            <a:off x="868680" y="1920240"/>
            <a:ext cx="365760" cy="365760"/>
          </a:xfrm>
          <a:prstGeom prst="ellipse">
            <a:avLst/>
          </a:prstGeom>
          <a:solidFill>
            <a:srgbClr val="786CF0"/>
          </a:solidFill>
          <a:ln/>
        </p:spPr>
      </p:sp>
      <p:sp>
        <p:nvSpPr>
          <p:cNvPr id="6" name="Text 4"/>
          <p:cNvSpPr/>
          <p:nvPr/>
        </p:nvSpPr>
        <p:spPr>
          <a:xfrm>
            <a:off x="868680" y="192024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868680" y="2423160"/>
            <a:ext cx="246888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Capacidad ampliada</a:t>
            </a:r>
            <a:endParaRPr lang="en-US" sz="1300" dirty="0"/>
          </a:p>
        </p:txBody>
      </p:sp>
      <p:sp>
        <p:nvSpPr>
          <p:cNvPr id="8" name="Text 6"/>
          <p:cNvSpPr/>
          <p:nvPr/>
        </p:nvSpPr>
        <p:spPr>
          <a:xfrm>
            <a:off x="868680" y="2788920"/>
            <a:ext cx="2468880"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Uso significativamente mayor que el plan gratuito, con acceso prioritario en horas de alta demanda.</a:t>
            </a:r>
            <a:endParaRPr lang="en-US" sz="1000" dirty="0"/>
          </a:p>
        </p:txBody>
      </p:sp>
      <p:sp>
        <p:nvSpPr>
          <p:cNvPr id="9" name="Shape 7"/>
          <p:cNvSpPr/>
          <p:nvPr/>
        </p:nvSpPr>
        <p:spPr>
          <a:xfrm>
            <a:off x="3794760" y="1691640"/>
            <a:ext cx="2926080" cy="1737360"/>
          </a:xfrm>
          <a:prstGeom prst="roundRect">
            <a:avLst>
              <a:gd name="adj" fmla="val 3158"/>
            </a:avLst>
          </a:prstGeom>
          <a:solidFill>
            <a:srgbClr val="161527"/>
          </a:solidFill>
          <a:ln/>
        </p:spPr>
      </p:sp>
      <p:sp>
        <p:nvSpPr>
          <p:cNvPr id="10" name="Shape 8"/>
          <p:cNvSpPr/>
          <p:nvPr/>
        </p:nvSpPr>
        <p:spPr>
          <a:xfrm>
            <a:off x="4023360" y="1920240"/>
            <a:ext cx="365760" cy="365760"/>
          </a:xfrm>
          <a:prstGeom prst="ellipse">
            <a:avLst/>
          </a:prstGeom>
          <a:solidFill>
            <a:srgbClr val="786CF0"/>
          </a:solidFill>
          <a:ln/>
        </p:spPr>
      </p:sp>
      <p:sp>
        <p:nvSpPr>
          <p:cNvPr id="11" name="Text 9"/>
          <p:cNvSpPr/>
          <p:nvPr/>
        </p:nvSpPr>
        <p:spPr>
          <a:xfrm>
            <a:off x="4023360" y="192024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4023360" y="2423160"/>
            <a:ext cx="246888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Modelos avanzados</a:t>
            </a:r>
            <a:endParaRPr lang="en-US" sz="1300" dirty="0"/>
          </a:p>
        </p:txBody>
      </p:sp>
      <p:sp>
        <p:nvSpPr>
          <p:cNvPr id="13" name="Text 11"/>
          <p:cNvSpPr/>
          <p:nvPr/>
        </p:nvSpPr>
        <p:spPr>
          <a:xfrm>
            <a:off x="4023360" y="2788920"/>
            <a:ext cx="2468880"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Acceso a los modelos más capaces de Claude para redacción, análisis de documentos, código y automatización.</a:t>
            </a:r>
            <a:endParaRPr lang="en-US" sz="1000" dirty="0"/>
          </a:p>
        </p:txBody>
      </p:sp>
      <p:sp>
        <p:nvSpPr>
          <p:cNvPr id="14" name="Shape 12"/>
          <p:cNvSpPr/>
          <p:nvPr/>
        </p:nvSpPr>
        <p:spPr>
          <a:xfrm>
            <a:off x="6949440" y="1691640"/>
            <a:ext cx="2926080" cy="1737360"/>
          </a:xfrm>
          <a:prstGeom prst="roundRect">
            <a:avLst>
              <a:gd name="adj" fmla="val 3158"/>
            </a:avLst>
          </a:prstGeom>
          <a:solidFill>
            <a:srgbClr val="161527"/>
          </a:solidFill>
          <a:ln/>
        </p:spPr>
      </p:sp>
      <p:sp>
        <p:nvSpPr>
          <p:cNvPr id="15" name="Shape 13"/>
          <p:cNvSpPr/>
          <p:nvPr/>
        </p:nvSpPr>
        <p:spPr>
          <a:xfrm>
            <a:off x="7178040" y="1920240"/>
            <a:ext cx="365760" cy="365760"/>
          </a:xfrm>
          <a:prstGeom prst="ellipse">
            <a:avLst/>
          </a:prstGeom>
          <a:solidFill>
            <a:srgbClr val="786CF0"/>
          </a:solidFill>
          <a:ln/>
        </p:spPr>
      </p:sp>
      <p:sp>
        <p:nvSpPr>
          <p:cNvPr id="16" name="Text 14"/>
          <p:cNvSpPr/>
          <p:nvPr/>
        </p:nvSpPr>
        <p:spPr>
          <a:xfrm>
            <a:off x="7178040" y="192024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7178040" y="2423160"/>
            <a:ext cx="246888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Herramientas de trabajo</a:t>
            </a:r>
            <a:endParaRPr lang="en-US" sz="1300" dirty="0"/>
          </a:p>
        </p:txBody>
      </p:sp>
      <p:sp>
        <p:nvSpPr>
          <p:cNvPr id="18" name="Text 16"/>
          <p:cNvSpPr/>
          <p:nvPr/>
        </p:nvSpPr>
        <p:spPr>
          <a:xfrm>
            <a:off x="7178040" y="2788920"/>
            <a:ext cx="2468880"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Proyectos, carga de archivos y funciones de investigación y razonamiento extendido para tareas complejas.</a:t>
            </a:r>
            <a:endParaRPr lang="en-US" sz="1000" dirty="0"/>
          </a:p>
        </p:txBody>
      </p:sp>
      <p:sp>
        <p:nvSpPr>
          <p:cNvPr id="19" name="Text 17"/>
          <p:cNvSpPr/>
          <p:nvPr/>
        </p:nvSpPr>
        <p:spPr>
          <a:xfrm>
            <a:off x="640080" y="3703320"/>
            <a:ext cx="9418320" cy="36576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Cumplimiento del requerimiento</a:t>
            </a:r>
            <a:endParaRPr lang="en-US" sz="1600" dirty="0"/>
          </a:p>
        </p:txBody>
      </p:sp>
      <p:sp>
        <p:nvSpPr>
          <p:cNvPr id="20" name="Shape 18"/>
          <p:cNvSpPr/>
          <p:nvPr/>
        </p:nvSpPr>
        <p:spPr>
          <a:xfrm>
            <a:off x="640080" y="4178808"/>
            <a:ext cx="256032" cy="256032"/>
          </a:xfrm>
          <a:prstGeom prst="ellipse">
            <a:avLst/>
          </a:prstGeom>
          <a:solidFill>
            <a:srgbClr val="786CF0"/>
          </a:solidFill>
          <a:ln/>
        </p:spPr>
      </p:sp>
      <p:sp>
        <p:nvSpPr>
          <p:cNvPr id="21" name="Text 19"/>
          <p:cNvSpPr/>
          <p:nvPr/>
        </p:nvSpPr>
        <p:spPr>
          <a:xfrm>
            <a:off x="640080" y="4178808"/>
            <a:ext cx="256032"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OK</a:t>
            </a:r>
            <a:endParaRPr lang="en-US" sz="800" dirty="0"/>
          </a:p>
        </p:txBody>
      </p:sp>
      <p:sp>
        <p:nvSpPr>
          <p:cNvPr id="22" name="Text 20"/>
          <p:cNvSpPr/>
          <p:nvPr/>
        </p:nvSpPr>
        <p:spPr>
          <a:xfrm>
            <a:off x="1005840" y="4160520"/>
            <a:ext cx="8961120" cy="3200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Producto/servicio — 10 licencias Claude Team (asiento estándar) — 5 meses</a:t>
            </a:r>
            <a:endParaRPr lang="en-US" sz="1200" dirty="0"/>
          </a:p>
        </p:txBody>
      </p:sp>
      <p:sp>
        <p:nvSpPr>
          <p:cNvPr id="23" name="Shape 21"/>
          <p:cNvSpPr/>
          <p:nvPr/>
        </p:nvSpPr>
        <p:spPr>
          <a:xfrm>
            <a:off x="640080" y="4562856"/>
            <a:ext cx="256032" cy="256032"/>
          </a:xfrm>
          <a:prstGeom prst="ellipse">
            <a:avLst/>
          </a:prstGeom>
          <a:solidFill>
            <a:srgbClr val="786CF0"/>
          </a:solidFill>
          <a:ln/>
        </p:spPr>
      </p:sp>
      <p:sp>
        <p:nvSpPr>
          <p:cNvPr id="24" name="Text 22"/>
          <p:cNvSpPr/>
          <p:nvPr/>
        </p:nvSpPr>
        <p:spPr>
          <a:xfrm>
            <a:off x="640080" y="4562856"/>
            <a:ext cx="256032"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OK</a:t>
            </a:r>
            <a:endParaRPr lang="en-US" sz="800" dirty="0"/>
          </a:p>
        </p:txBody>
      </p:sp>
      <p:sp>
        <p:nvSpPr>
          <p:cNvPr id="25" name="Text 23"/>
          <p:cNvSpPr/>
          <p:nvPr/>
        </p:nvSpPr>
        <p:spPr>
          <a:xfrm>
            <a:off x="1005840" y="4544568"/>
            <a:ext cx="8961120" cy="3200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Plazo de entrega — activación en 5 días hábil(es)</a:t>
            </a:r>
            <a:endParaRPr lang="en-US" sz="1200" dirty="0"/>
          </a:p>
        </p:txBody>
      </p:sp>
      <p:sp>
        <p:nvSpPr>
          <p:cNvPr id="26" name="Shape 24"/>
          <p:cNvSpPr/>
          <p:nvPr/>
        </p:nvSpPr>
        <p:spPr>
          <a:xfrm>
            <a:off x="640080" y="4946904"/>
            <a:ext cx="256032" cy="256032"/>
          </a:xfrm>
          <a:prstGeom prst="ellipse">
            <a:avLst/>
          </a:prstGeom>
          <a:solidFill>
            <a:srgbClr val="786CF0"/>
          </a:solidFill>
          <a:ln/>
        </p:spPr>
      </p:sp>
      <p:sp>
        <p:nvSpPr>
          <p:cNvPr id="27" name="Text 25"/>
          <p:cNvSpPr/>
          <p:nvPr/>
        </p:nvSpPr>
        <p:spPr>
          <a:xfrm>
            <a:off x="640080" y="4946904"/>
            <a:ext cx="256032"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OK</a:t>
            </a:r>
            <a:endParaRPr lang="en-US" sz="800" dirty="0"/>
          </a:p>
        </p:txBody>
      </p:sp>
      <p:sp>
        <p:nvSpPr>
          <p:cNvPr id="28" name="Text 26"/>
          <p:cNvSpPr/>
          <p:nvPr/>
        </p:nvSpPr>
        <p:spPr>
          <a:xfrm>
            <a:off x="1005840" y="4928616"/>
            <a:ext cx="8961120" cy="3200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Despacho digital — incluido en el valor total</a:t>
            </a:r>
            <a:endParaRPr lang="en-US" sz="1200" dirty="0"/>
          </a:p>
        </p:txBody>
      </p:sp>
      <p:sp>
        <p:nvSpPr>
          <p:cNvPr id="29" name="Text 27"/>
          <p:cNvSpPr/>
          <p:nvPr/>
        </p:nvSpPr>
        <p:spPr>
          <a:xfrm>
            <a:off x="640080" y="6903720"/>
            <a:ext cx="9418320" cy="457200"/>
          </a:xfrm>
          <a:prstGeom prst="rect">
            <a:avLst/>
          </a:prstGeom>
          <a:noFill/>
          <a:ln/>
        </p:spPr>
        <p:txBody>
          <a:bodyPr wrap="square" rtlCol="0" anchor="ctr"/>
          <a:lstStyle/>
          <a:p>
            <a:pPr indent="0" marL="0">
              <a:buNone/>
            </a:pPr>
            <a:r>
              <a:rPr lang="en-US" sz="1000" i="1" dirty="0">
                <a:solidFill>
                  <a:srgbClr val="8A8F98"/>
                </a:solidFill>
                <a:latin typeface="Arial" pitchFamily="34" charset="0"/>
                <a:ea typeface="Arial" pitchFamily="34" charset="-122"/>
                <a:cs typeface="Arial" pitchFamily="34" charset="-120"/>
              </a:rPr>
              <a:t>Proveedor hábil en el Sistema de Información (Mercado Público) — Cotización formal adjunta con el detalle de lo ofertado.</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E17"/>
        </a:solidFill>
      </p:bgPr>
    </p:bg>
    <p:spTree>
      <p:nvGrpSpPr>
        <p:cNvPr id="1" name=""/>
        <p:cNvGrpSpPr/>
        <p:nvPr/>
      </p:nvGrpSpPr>
      <p:grpSpPr>
        <a:xfrm>
          <a:off x="0" y="0"/>
          <a:ext cx="0" cy="0"/>
          <a:chOff x="0" y="0"/>
          <a:chExt cx="0" cy="0"/>
        </a:xfrm>
      </p:grpSpPr>
      <p:sp>
        <p:nvSpPr>
          <p:cNvPr id="2" name="Text 0"/>
          <p:cNvSpPr/>
          <p:nvPr/>
        </p:nvSpPr>
        <p:spPr>
          <a:xfrm>
            <a:off x="566928" y="502920"/>
            <a:ext cx="8229600" cy="274320"/>
          </a:xfrm>
          <a:prstGeom prst="rect">
            <a:avLst/>
          </a:prstGeom>
          <a:noFill/>
          <a:ln/>
        </p:spPr>
        <p:txBody>
          <a:bodyPr wrap="square" rtlCol="0" anchor="ctr"/>
          <a:lstStyle/>
          <a:p>
            <a:pPr indent="0" marL="0">
              <a:buNone/>
            </a:pPr>
            <a:r>
              <a:rPr lang="en-US" sz="1200" b="1" spc="200" kern="0" dirty="0">
                <a:solidFill>
                  <a:srgbClr val="B4AAFA"/>
                </a:solidFill>
                <a:latin typeface="Arial" pitchFamily="34" charset="0"/>
                <a:ea typeface="Arial" pitchFamily="34" charset="-122"/>
                <a:cs typeface="Arial" pitchFamily="34" charset="-120"/>
              </a:rPr>
              <a:t>MARCO NORMATIVO</a:t>
            </a:r>
            <a:endParaRPr lang="en-US" sz="1200" dirty="0"/>
          </a:p>
        </p:txBody>
      </p:sp>
      <p:sp>
        <p:nvSpPr>
          <p:cNvPr id="3" name="Text 1"/>
          <p:cNvSpPr/>
          <p:nvPr/>
        </p:nvSpPr>
        <p:spPr>
          <a:xfrm>
            <a:off x="566928" y="786384"/>
            <a:ext cx="9509760" cy="82296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Alineación con la Ley 21.180</a:t>
            </a:r>
            <a:endParaRPr lang="en-US" sz="2600" dirty="0"/>
          </a:p>
        </p:txBody>
      </p:sp>
      <p:sp>
        <p:nvSpPr>
          <p:cNvPr id="4" name="Text 2"/>
          <p:cNvSpPr/>
          <p:nvPr/>
        </p:nvSpPr>
        <p:spPr>
          <a:xfrm>
            <a:off x="566928" y="1700784"/>
            <a:ext cx="9555480" cy="777240"/>
          </a:xfrm>
          <a:prstGeom prst="rect">
            <a:avLst/>
          </a:prstGeom>
          <a:noFill/>
          <a:ln/>
        </p:spPr>
        <p:txBody>
          <a:bodyPr wrap="square" rtlCol="0" anchor="ctr"/>
          <a:lstStyle/>
          <a:p>
            <a:pPr indent="0" marL="0">
              <a:buNone/>
            </a:pPr>
            <a:r>
              <a:rPr lang="en-US" sz="1300" dirty="0">
                <a:solidFill>
                  <a:srgbClr val="8A8F98"/>
                </a:solidFill>
                <a:latin typeface="Arial" pitchFamily="34" charset="0"/>
                <a:ea typeface="Arial" pitchFamily="34" charset="-122"/>
                <a:cs typeface="Arial" pitchFamily="34" charset="-120"/>
              </a:rPr>
              <a:t>Ley de Transformación Digital del Estado (Art. 16 bis). Las licencias Claude Team (asiento estándar) potencian al equipo de MUNICIPALIDAD DE VITACURA para operar bajo los principios que la ley establece en la tramitación electrónica de los procedimientos administrativos.</a:t>
            </a:r>
            <a:endParaRPr lang="en-US" sz="1300" dirty="0"/>
          </a:p>
        </p:txBody>
      </p:sp>
      <p:sp>
        <p:nvSpPr>
          <p:cNvPr id="5" name="Shape 3"/>
          <p:cNvSpPr/>
          <p:nvPr/>
        </p:nvSpPr>
        <p:spPr>
          <a:xfrm>
            <a:off x="566928" y="2487168"/>
            <a:ext cx="4626864" cy="1783080"/>
          </a:xfrm>
          <a:prstGeom prst="roundRect">
            <a:avLst>
              <a:gd name="adj" fmla="val 3077"/>
            </a:avLst>
          </a:prstGeom>
          <a:solidFill>
            <a:srgbClr val="161527"/>
          </a:solidFill>
          <a:ln/>
        </p:spPr>
      </p:sp>
      <p:sp>
        <p:nvSpPr>
          <p:cNvPr id="6" name="Shape 4"/>
          <p:cNvSpPr/>
          <p:nvPr/>
        </p:nvSpPr>
        <p:spPr>
          <a:xfrm>
            <a:off x="859536" y="2761488"/>
            <a:ext cx="402336" cy="402336"/>
          </a:xfrm>
          <a:prstGeom prst="ellipse">
            <a:avLst/>
          </a:prstGeom>
          <a:solidFill>
            <a:srgbClr val="786CF0"/>
          </a:solidFill>
          <a:ln/>
        </p:spPr>
      </p:sp>
      <p:sp>
        <p:nvSpPr>
          <p:cNvPr id="7" name="Text 5"/>
          <p:cNvSpPr/>
          <p:nvPr/>
        </p:nvSpPr>
        <p:spPr>
          <a:xfrm>
            <a:off x="859536" y="276148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8" name="Text 6"/>
          <p:cNvSpPr/>
          <p:nvPr/>
        </p:nvSpPr>
        <p:spPr>
          <a:xfrm>
            <a:off x="859536" y="3273552"/>
            <a:ext cx="4078224"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Actualización</a:t>
            </a:r>
            <a:endParaRPr lang="en-US" sz="1300" dirty="0"/>
          </a:p>
        </p:txBody>
      </p:sp>
      <p:sp>
        <p:nvSpPr>
          <p:cNvPr id="9" name="Text 7"/>
          <p:cNvSpPr/>
          <p:nvPr/>
        </p:nvSpPr>
        <p:spPr>
          <a:xfrm>
            <a:off x="859536" y="3621024"/>
            <a:ext cx="4078224"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Claude Team (asiento estándar) es tecnología de IA vigente y con soporte activo: evita el uso de plataformas obsoletas y mantiene al equipo con herramientas de última generación.</a:t>
            </a:r>
            <a:endParaRPr lang="en-US" sz="1000" dirty="0"/>
          </a:p>
        </p:txBody>
      </p:sp>
      <p:sp>
        <p:nvSpPr>
          <p:cNvPr id="10" name="Shape 8"/>
          <p:cNvSpPr/>
          <p:nvPr/>
        </p:nvSpPr>
        <p:spPr>
          <a:xfrm>
            <a:off x="5422392" y="2487168"/>
            <a:ext cx="4626864" cy="1783080"/>
          </a:xfrm>
          <a:prstGeom prst="roundRect">
            <a:avLst>
              <a:gd name="adj" fmla="val 3077"/>
            </a:avLst>
          </a:prstGeom>
          <a:solidFill>
            <a:srgbClr val="161527"/>
          </a:solidFill>
          <a:ln/>
        </p:spPr>
      </p:sp>
      <p:sp>
        <p:nvSpPr>
          <p:cNvPr id="11" name="Shape 9"/>
          <p:cNvSpPr/>
          <p:nvPr/>
        </p:nvSpPr>
        <p:spPr>
          <a:xfrm>
            <a:off x="5715000" y="2761488"/>
            <a:ext cx="402336" cy="402336"/>
          </a:xfrm>
          <a:prstGeom prst="ellipse">
            <a:avLst/>
          </a:prstGeom>
          <a:solidFill>
            <a:srgbClr val="786CF0"/>
          </a:solidFill>
          <a:ln/>
        </p:spPr>
      </p:sp>
      <p:sp>
        <p:nvSpPr>
          <p:cNvPr id="12" name="Text 10"/>
          <p:cNvSpPr/>
          <p:nvPr/>
        </p:nvSpPr>
        <p:spPr>
          <a:xfrm>
            <a:off x="5715000" y="276148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3" name="Text 11"/>
          <p:cNvSpPr/>
          <p:nvPr/>
        </p:nvSpPr>
        <p:spPr>
          <a:xfrm>
            <a:off x="5715000" y="3273552"/>
            <a:ext cx="4078224"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Escrituración electrónica</a:t>
            </a:r>
            <a:endParaRPr lang="en-US" sz="1300" dirty="0"/>
          </a:p>
        </p:txBody>
      </p:sp>
      <p:sp>
        <p:nvSpPr>
          <p:cNvPr id="14" name="Text 12"/>
          <p:cNvSpPr/>
          <p:nvPr/>
        </p:nvSpPr>
        <p:spPr>
          <a:xfrm>
            <a:off x="5715000" y="3621024"/>
            <a:ext cx="4078224"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Acelera la redacción, revisión y estandarización de actos y documentos administrativos expresados por medios electrónicos.</a:t>
            </a:r>
            <a:endParaRPr lang="en-US" sz="1000" dirty="0"/>
          </a:p>
        </p:txBody>
      </p:sp>
      <p:sp>
        <p:nvSpPr>
          <p:cNvPr id="15" name="Shape 13"/>
          <p:cNvSpPr/>
          <p:nvPr/>
        </p:nvSpPr>
        <p:spPr>
          <a:xfrm>
            <a:off x="566928" y="4453128"/>
            <a:ext cx="4626864" cy="1783080"/>
          </a:xfrm>
          <a:prstGeom prst="roundRect">
            <a:avLst>
              <a:gd name="adj" fmla="val 3077"/>
            </a:avLst>
          </a:prstGeom>
          <a:solidFill>
            <a:srgbClr val="161527"/>
          </a:solidFill>
          <a:ln/>
        </p:spPr>
      </p:sp>
      <p:sp>
        <p:nvSpPr>
          <p:cNvPr id="16" name="Shape 14"/>
          <p:cNvSpPr/>
          <p:nvPr/>
        </p:nvSpPr>
        <p:spPr>
          <a:xfrm>
            <a:off x="859536" y="4727448"/>
            <a:ext cx="402336" cy="402336"/>
          </a:xfrm>
          <a:prstGeom prst="ellipse">
            <a:avLst/>
          </a:prstGeom>
          <a:solidFill>
            <a:srgbClr val="786CF0"/>
          </a:solidFill>
          <a:ln/>
        </p:spPr>
      </p:sp>
      <p:sp>
        <p:nvSpPr>
          <p:cNvPr id="17" name="Text 15"/>
          <p:cNvSpPr/>
          <p:nvPr/>
        </p:nvSpPr>
        <p:spPr>
          <a:xfrm>
            <a:off x="859536" y="472744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859536" y="5239512"/>
            <a:ext cx="4078224"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Fidelidad del expediente</a:t>
            </a:r>
            <a:endParaRPr lang="en-US" sz="1300" dirty="0"/>
          </a:p>
        </p:txBody>
      </p:sp>
      <p:sp>
        <p:nvSpPr>
          <p:cNvPr id="19" name="Text 17"/>
          <p:cNvSpPr/>
          <p:nvPr/>
        </p:nvSpPr>
        <p:spPr>
          <a:xfrm>
            <a:off x="859536" y="5586984"/>
            <a:ext cx="4078224"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Apoya el análisis, resumen y ordenamiento de la documentación, ayudando a mantener registros íntegros y trazables.</a:t>
            </a:r>
            <a:endParaRPr lang="en-US" sz="1000" dirty="0"/>
          </a:p>
        </p:txBody>
      </p:sp>
      <p:sp>
        <p:nvSpPr>
          <p:cNvPr id="20" name="Shape 18"/>
          <p:cNvSpPr/>
          <p:nvPr/>
        </p:nvSpPr>
        <p:spPr>
          <a:xfrm>
            <a:off x="5422392" y="4453128"/>
            <a:ext cx="4626864" cy="1783080"/>
          </a:xfrm>
          <a:prstGeom prst="roundRect">
            <a:avLst>
              <a:gd name="adj" fmla="val 3077"/>
            </a:avLst>
          </a:prstGeom>
          <a:solidFill>
            <a:srgbClr val="161527"/>
          </a:solidFill>
          <a:ln/>
        </p:spPr>
      </p:sp>
      <p:sp>
        <p:nvSpPr>
          <p:cNvPr id="21" name="Shape 19"/>
          <p:cNvSpPr/>
          <p:nvPr/>
        </p:nvSpPr>
        <p:spPr>
          <a:xfrm>
            <a:off x="5715000" y="4727448"/>
            <a:ext cx="402336" cy="402336"/>
          </a:xfrm>
          <a:prstGeom prst="ellipse">
            <a:avLst/>
          </a:prstGeom>
          <a:solidFill>
            <a:srgbClr val="786CF0"/>
          </a:solidFill>
          <a:ln/>
        </p:spPr>
      </p:sp>
      <p:sp>
        <p:nvSpPr>
          <p:cNvPr id="22" name="Text 20"/>
          <p:cNvSpPr/>
          <p:nvPr/>
        </p:nvSpPr>
        <p:spPr>
          <a:xfrm>
            <a:off x="5715000" y="472744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23" name="Text 21"/>
          <p:cNvSpPr/>
          <p:nvPr/>
        </p:nvSpPr>
        <p:spPr>
          <a:xfrm>
            <a:off x="5715000" y="5239512"/>
            <a:ext cx="4078224"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Eficiencia y cooperación</a:t>
            </a:r>
            <a:endParaRPr lang="en-US" sz="1300" dirty="0"/>
          </a:p>
        </p:txBody>
      </p:sp>
      <p:sp>
        <p:nvSpPr>
          <p:cNvPr id="24" name="Text 22"/>
          <p:cNvSpPr/>
          <p:nvPr/>
        </p:nvSpPr>
        <p:spPr>
          <a:xfrm>
            <a:off x="5715000" y="5586984"/>
            <a:ext cx="4078224"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Automatiza tareas repetitivas y facilita el trabajo colaborativo entre equipos, liberando tiempo para modernizar los servicios.</a:t>
            </a:r>
            <a:endParaRPr lang="en-US" sz="1000" dirty="0"/>
          </a:p>
        </p:txBody>
      </p:sp>
      <p:sp>
        <p:nvSpPr>
          <p:cNvPr id="25" name="Text 23"/>
          <p:cNvSpPr/>
          <p:nvPr/>
        </p:nvSpPr>
        <p:spPr>
          <a:xfrm>
            <a:off x="566928" y="6858000"/>
            <a:ext cx="9555480" cy="457200"/>
          </a:xfrm>
          <a:prstGeom prst="rect">
            <a:avLst/>
          </a:prstGeom>
          <a:noFill/>
          <a:ln/>
        </p:spPr>
        <p:txBody>
          <a:bodyPr wrap="square" rtlCol="0" anchor="ctr"/>
          <a:lstStyle/>
          <a:p>
            <a:pPr indent="0" marL="0">
              <a:buNone/>
            </a:pPr>
            <a:r>
              <a:rPr lang="en-US" sz="900" i="1" dirty="0">
                <a:solidFill>
                  <a:srgbClr val="8A8F98"/>
                </a:solidFill>
                <a:latin typeface="Arial" pitchFamily="34" charset="0"/>
                <a:ea typeface="Arial" pitchFamily="34" charset="-122"/>
                <a:cs typeface="Arial" pitchFamily="34" charset="-120"/>
              </a:rPr>
              <a:t>Claude Team (asiento estándar) es una herramienta de apoyo a la gestión; el cumplimiento normativo depende de los procesos, firmas y plataformas oficiales de MUNICIPALIDAD DE VITACURA. Ley 21.180 — modifica la Ley 19.880.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E17"/>
        </a:solidFill>
      </p:bgPr>
    </p:bg>
    <p:spTree>
      <p:nvGrpSpPr>
        <p:cNvPr id="1" name=""/>
        <p:cNvGrpSpPr/>
        <p:nvPr/>
      </p:nvGrpSpPr>
      <p:grpSpPr>
        <a:xfrm>
          <a:off x="0" y="0"/>
          <a:ext cx="0" cy="0"/>
          <a:chOff x="0" y="0"/>
          <a:chExt cx="0" cy="0"/>
        </a:xfrm>
      </p:grpSpPr>
      <p:sp>
        <p:nvSpPr>
          <p:cNvPr id="2" name="Text 0"/>
          <p:cNvSpPr/>
          <p:nvPr/>
        </p:nvSpPr>
        <p:spPr>
          <a:xfrm>
            <a:off x="640080" y="502920"/>
            <a:ext cx="9418320" cy="64008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Cotización formal</a:t>
            </a:r>
            <a:endParaRPr lang="en-US" sz="3000" dirty="0"/>
          </a:p>
        </p:txBody>
      </p:sp>
      <p:sp>
        <p:nvSpPr>
          <p:cNvPr id="3" name="Text 1"/>
          <p:cNvSpPr/>
          <p:nvPr/>
        </p:nvSpPr>
        <p:spPr>
          <a:xfrm>
            <a:off x="640080" y="1170432"/>
            <a:ext cx="9418320" cy="457200"/>
          </a:xfrm>
          <a:prstGeom prst="rect">
            <a:avLst/>
          </a:prstGeom>
          <a:noFill/>
          <a:ln/>
        </p:spPr>
        <p:txBody>
          <a:bodyPr wrap="square" rtlCol="0" anchor="ctr"/>
          <a:lstStyle/>
          <a:p>
            <a:pPr indent="0" marL="0">
              <a:buNone/>
            </a:pPr>
            <a:r>
              <a:rPr lang="en-US" sz="1300" dirty="0">
                <a:solidFill>
                  <a:srgbClr val="8A8F98"/>
                </a:solidFill>
                <a:latin typeface="Arial" pitchFamily="34" charset="0"/>
                <a:ea typeface="Arial" pitchFamily="34" charset="-122"/>
                <a:cs typeface="Arial" pitchFamily="34" charset="-120"/>
              </a:rPr>
              <a:t>Valores en pesos chilenos (CLP), impuestos incluidos. Licencias Claude Team (asiento estándar) por 5 meses, gestión y soporte de KeepSync.</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9418320" cy="914400"/>
        </p:xfrm>
        <a:graphic>
          <a:graphicData uri="http://schemas.openxmlformats.org/drawingml/2006/table">
            <a:tbl>
              <a:tblPr/>
              <a:tblGrid>
                <a:gridCol w="3840480"/>
                <a:gridCol w="822960"/>
                <a:gridCol w="822960"/>
                <a:gridCol w="1965960"/>
                <a:gridCol w="1965960"/>
              </a:tblGrid>
              <a:tr h="457200">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Descripción</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Cant.</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Meses</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Valor unit. mensual</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Subtotal neto</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r>
              <a:tr h="457200">
                <a:tc>
                  <a:txBody>
                    <a:bodyPr/>
                    <a:lstStyle/>
                    <a:p>
                      <a:pPr indent="0" marL="0">
                        <a:buNone/>
                      </a:pPr>
                      <a:r>
                        <a:rPr lang="en-US" sz="1100" dirty="0">
                          <a:solidFill>
                            <a:srgbClr val="FFFFFF"/>
                          </a:solidFill>
                          <a:latin typeface="Arial" pitchFamily="34" charset="0"/>
                          <a:ea typeface="Arial" pitchFamily="34" charset="-122"/>
                          <a:cs typeface="Arial" pitchFamily="34" charset="-120"/>
                        </a:rPr>
                        <a:t>Licencia cuenta Claude Team (asiento estándar)</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$23.908</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$1.195.379</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r>
              <a:tr h="457200">
                <a:tc>
                  <a:txBody>
                    <a:bodyPr/>
                    <a:lstStyle/>
                    <a:p>
                      <a:pPr indent="0" marL="0">
                        <a:buNone/>
                      </a:pPr>
                      <a:r>
                        <a:rPr lang="en-US" sz="1100" dirty="0">
                          <a:solidFill>
                            <a:srgbClr val="FFFFFF"/>
                          </a:solidFill>
                          <a:latin typeface="Arial" pitchFamily="34" charset="0"/>
                          <a:ea typeface="Arial" pitchFamily="34" charset="-122"/>
                          <a:cs typeface="Arial" pitchFamily="34" charset="-120"/>
                        </a:rPr>
                        <a:t>Taller de buenas prácticas (3 horas) para aprovechar al máximo la plataforma</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Incluida</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r>
              <a:tr h="457200">
                <a:tc>
                  <a:txBody>
                    <a:bodyPr/>
                    <a:lstStyle/>
                    <a:p>
                      <a:pPr indent="0" marL="0">
                        <a:buNone/>
                      </a:pPr>
                      <a:r>
                        <a:rPr lang="en-US" sz="1100" dirty="0">
                          <a:solidFill>
                            <a:srgbClr val="FFFFFF"/>
                          </a:solidFill>
                          <a:latin typeface="Arial" pitchFamily="34" charset="0"/>
                          <a:ea typeface="Arial" pitchFamily="34" charset="-122"/>
                          <a:cs typeface="Arial" pitchFamily="34" charset="-120"/>
                        </a:rPr>
                        <a:t>Acceso a la comunidad de usuarios de Claude en Chile</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Incluida</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r>
            </a:tbl>
          </a:graphicData>
        </a:graphic>
      </p:graphicFrame>
      <p:sp>
        <p:nvSpPr>
          <p:cNvPr id="5" name="Text 2"/>
          <p:cNvSpPr/>
          <p:nvPr/>
        </p:nvSpPr>
        <p:spPr>
          <a:xfrm>
            <a:off x="6126480" y="4023360"/>
            <a:ext cx="2103120" cy="365760"/>
          </a:xfrm>
          <a:prstGeom prst="rect">
            <a:avLst/>
          </a:prstGeom>
          <a:noFill/>
          <a:ln/>
        </p:spPr>
        <p:txBody>
          <a:bodyPr wrap="square" rtlCol="0" anchor="ctr"/>
          <a:lstStyle/>
          <a:p>
            <a:pPr indent="0" marL="0">
              <a:buNone/>
            </a:pPr>
            <a:r>
              <a:rPr lang="en-US" sz="1200" dirty="0">
                <a:solidFill>
                  <a:srgbClr val="8A8F98"/>
                </a:solidFill>
                <a:latin typeface="Arial" pitchFamily="34" charset="0"/>
                <a:ea typeface="Arial" pitchFamily="34" charset="-122"/>
                <a:cs typeface="Arial" pitchFamily="34" charset="-120"/>
              </a:rPr>
              <a:t>Neto</a:t>
            </a:r>
            <a:endParaRPr lang="en-US" sz="1200" dirty="0"/>
          </a:p>
        </p:txBody>
      </p:sp>
      <p:sp>
        <p:nvSpPr>
          <p:cNvPr id="6" name="Text 3"/>
          <p:cNvSpPr/>
          <p:nvPr/>
        </p:nvSpPr>
        <p:spPr>
          <a:xfrm>
            <a:off x="8229600" y="4023360"/>
            <a:ext cx="1828800" cy="365760"/>
          </a:xfrm>
          <a:prstGeom prst="rect">
            <a:avLst/>
          </a:prstGeom>
          <a:noFill/>
          <a:ln/>
        </p:spPr>
        <p:txBody>
          <a:bodyPr wrap="square" rtlCol="0" anchor="ctr"/>
          <a:lstStyle/>
          <a:p>
            <a:pPr algn="r" indent="0" marL="0">
              <a:buNone/>
            </a:pPr>
            <a:r>
              <a:rPr lang="en-US" sz="1200" dirty="0">
                <a:solidFill>
                  <a:srgbClr val="FFFFFF"/>
                </a:solidFill>
                <a:latin typeface="Arial" pitchFamily="34" charset="0"/>
                <a:ea typeface="Arial" pitchFamily="34" charset="-122"/>
                <a:cs typeface="Arial" pitchFamily="34" charset="-120"/>
              </a:rPr>
              <a:t>$1.195.379</a:t>
            </a:r>
            <a:endParaRPr lang="en-US" sz="1200" dirty="0"/>
          </a:p>
        </p:txBody>
      </p:sp>
      <p:sp>
        <p:nvSpPr>
          <p:cNvPr id="7" name="Text 4"/>
          <p:cNvSpPr/>
          <p:nvPr/>
        </p:nvSpPr>
        <p:spPr>
          <a:xfrm>
            <a:off x="6126480" y="4407408"/>
            <a:ext cx="2103120" cy="365760"/>
          </a:xfrm>
          <a:prstGeom prst="rect">
            <a:avLst/>
          </a:prstGeom>
          <a:noFill/>
          <a:ln/>
        </p:spPr>
        <p:txBody>
          <a:bodyPr wrap="square" rtlCol="0" anchor="ctr"/>
          <a:lstStyle/>
          <a:p>
            <a:pPr indent="0" marL="0">
              <a:buNone/>
            </a:pPr>
            <a:r>
              <a:rPr lang="en-US" sz="1200" dirty="0">
                <a:solidFill>
                  <a:srgbClr val="8A8F98"/>
                </a:solidFill>
                <a:latin typeface="Arial" pitchFamily="34" charset="0"/>
                <a:ea typeface="Arial" pitchFamily="34" charset="-122"/>
                <a:cs typeface="Arial" pitchFamily="34" charset="-120"/>
              </a:rPr>
              <a:t>IVA 19%</a:t>
            </a:r>
            <a:endParaRPr lang="en-US" sz="1200" dirty="0"/>
          </a:p>
        </p:txBody>
      </p:sp>
      <p:sp>
        <p:nvSpPr>
          <p:cNvPr id="8" name="Text 5"/>
          <p:cNvSpPr/>
          <p:nvPr/>
        </p:nvSpPr>
        <p:spPr>
          <a:xfrm>
            <a:off x="8229600" y="4407408"/>
            <a:ext cx="1828800" cy="365760"/>
          </a:xfrm>
          <a:prstGeom prst="rect">
            <a:avLst/>
          </a:prstGeom>
          <a:noFill/>
          <a:ln/>
        </p:spPr>
        <p:txBody>
          <a:bodyPr wrap="square" rtlCol="0" anchor="ctr"/>
          <a:lstStyle/>
          <a:p>
            <a:pPr algn="r" indent="0" marL="0">
              <a:buNone/>
            </a:pPr>
            <a:r>
              <a:rPr lang="en-US" sz="1200" dirty="0">
                <a:solidFill>
                  <a:srgbClr val="FFFFFF"/>
                </a:solidFill>
                <a:latin typeface="Arial" pitchFamily="34" charset="0"/>
                <a:ea typeface="Arial" pitchFamily="34" charset="-122"/>
                <a:cs typeface="Arial" pitchFamily="34" charset="-120"/>
              </a:rPr>
              <a:t>$227.122</a:t>
            </a:r>
            <a:endParaRPr lang="en-US" sz="1200" dirty="0"/>
          </a:p>
        </p:txBody>
      </p:sp>
      <p:sp>
        <p:nvSpPr>
          <p:cNvPr id="9" name="Shape 6"/>
          <p:cNvSpPr/>
          <p:nvPr/>
        </p:nvSpPr>
        <p:spPr>
          <a:xfrm>
            <a:off x="6126480" y="4846320"/>
            <a:ext cx="3931920" cy="548640"/>
          </a:xfrm>
          <a:prstGeom prst="roundRect">
            <a:avLst>
              <a:gd name="adj" fmla="val 10000"/>
            </a:avLst>
          </a:prstGeom>
          <a:solidFill>
            <a:srgbClr val="786CF0"/>
          </a:solidFill>
          <a:ln/>
        </p:spPr>
      </p:sp>
      <p:sp>
        <p:nvSpPr>
          <p:cNvPr id="10" name="Text 7"/>
          <p:cNvSpPr/>
          <p:nvPr/>
        </p:nvSpPr>
        <p:spPr>
          <a:xfrm>
            <a:off x="6126480" y="4937760"/>
            <a:ext cx="210312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TOTAL</a:t>
            </a:r>
            <a:endParaRPr lang="en-US" sz="1500" dirty="0"/>
          </a:p>
        </p:txBody>
      </p:sp>
      <p:sp>
        <p:nvSpPr>
          <p:cNvPr id="11" name="Text 8"/>
          <p:cNvSpPr/>
          <p:nvPr/>
        </p:nvSpPr>
        <p:spPr>
          <a:xfrm>
            <a:off x="8229600" y="4937760"/>
            <a:ext cx="1828800" cy="365760"/>
          </a:xfrm>
          <a:prstGeom prst="rect">
            <a:avLst/>
          </a:prstGeom>
          <a:noFill/>
          <a:ln/>
        </p:spPr>
        <p:txBody>
          <a:bodyPr wrap="square" rtlCol="0" anchor="ctr"/>
          <a:lstStyle/>
          <a:p>
            <a:pPr algn="r" indent="0" marL="0">
              <a:buNone/>
            </a:pPr>
            <a:r>
              <a:rPr lang="en-US" sz="1500" b="1" dirty="0">
                <a:solidFill>
                  <a:srgbClr val="FFFFFF"/>
                </a:solidFill>
                <a:latin typeface="Arial" pitchFamily="34" charset="0"/>
                <a:ea typeface="Arial" pitchFamily="34" charset="-122"/>
                <a:cs typeface="Arial" pitchFamily="34" charset="-120"/>
              </a:rPr>
              <a:t>$1.422.501</a:t>
            </a:r>
            <a:endParaRPr lang="en-US" sz="1500" dirty="0"/>
          </a:p>
        </p:txBody>
      </p:sp>
      <p:sp>
        <p:nvSpPr>
          <p:cNvPr id="12" name="Text 9"/>
          <p:cNvSpPr/>
          <p:nvPr/>
        </p:nvSpPr>
        <p:spPr>
          <a:xfrm>
            <a:off x="640080" y="4023360"/>
            <a:ext cx="5212080" cy="365760"/>
          </a:xfrm>
          <a:prstGeom prst="rect">
            <a:avLst/>
          </a:prstGeom>
          <a:noFill/>
          <a:ln/>
        </p:spPr>
        <p:txBody>
          <a:bodyPr wrap="square" rtlCol="0" anchor="ctr"/>
          <a:lstStyle/>
          <a:p>
            <a:pPr indent="0" marL="0">
              <a:buNone/>
            </a:pPr>
            <a:r>
              <a:rPr lang="en-US" sz="1100" dirty="0">
                <a:solidFill>
                  <a:srgbClr val="B4AAFA"/>
                </a:solidFill>
                <a:latin typeface="Arial" pitchFamily="34" charset="0"/>
                <a:ea typeface="Arial" pitchFamily="34" charset="-122"/>
                <a:cs typeface="Arial" pitchFamily="34" charset="-120"/>
              </a:rPr>
              <a:t>Oferta bajo el presupuesto disponible de $1.700.000</a:t>
            </a:r>
            <a:endParaRPr lang="en-US" sz="1100" dirty="0"/>
          </a:p>
        </p:txBody>
      </p:sp>
      <p:sp>
        <p:nvSpPr>
          <p:cNvPr id="13" name="Text 10"/>
          <p:cNvSpPr/>
          <p:nvPr/>
        </p:nvSpPr>
        <p:spPr>
          <a:xfrm>
            <a:off x="640080" y="5623560"/>
            <a:ext cx="941832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Condiciones comerciales</a:t>
            </a:r>
            <a:endParaRPr lang="en-US" sz="1400" dirty="0"/>
          </a:p>
        </p:txBody>
      </p:sp>
      <p:sp>
        <p:nvSpPr>
          <p:cNvPr id="14" name="Text 11"/>
          <p:cNvSpPr/>
          <p:nvPr/>
        </p:nvSpPr>
        <p:spPr>
          <a:xfrm>
            <a:off x="640080" y="5989320"/>
            <a:ext cx="9418320" cy="1188720"/>
          </a:xfrm>
          <a:prstGeom prst="rect">
            <a:avLst/>
          </a:prstGeom>
          <a:noFill/>
          <a:ln/>
        </p:spPr>
        <p:txBody>
          <a:bodyPr wrap="square" rtlCol="0" anchor="ctr"/>
          <a:lstStyle/>
          <a:p>
            <a:pPr indent="0" marL="0">
              <a:lnSpc>
                <a:spcPct val="130000"/>
              </a:lnSpc>
              <a:buNone/>
            </a:pPr>
            <a:r>
              <a:rPr lang="en-US" sz="1100" dirty="0">
                <a:solidFill>
                  <a:srgbClr val="8A8F98"/>
                </a:solidFill>
                <a:latin typeface="Arial" pitchFamily="34" charset="0"/>
                <a:ea typeface="Arial" pitchFamily="34" charset="-122"/>
                <a:cs typeface="Arial" pitchFamily="34" charset="-120"/>
              </a:rPr>
              <a:t>•  Plazo de entrega / activación: 5 día(s) hábil(es) desde la adjudicación.</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Incluye, sin costo adicional, un taller de buenas prácticas de 3 horas para aprovechar al máximo la plataforma.</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Incluye, sin costo adicional, acceso a la comunidad de usuarios de Claude en Chile.</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Valor de despacho / entrega digital incluido en el monto total.</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Proveedor con habilidad vigente en el Sistema de Información (Mercado Público).</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Condiciones excluyentes detectadas en las bases: OBLIGATORIO OFERENTE DEBERA ANEXAR PROPUESTA TECNICA DE LICENCIA, PARA LA RESPECTIVA EVALUACION POR PARTE DEL ITO DEL PRESENTE PROCESO. | OBLIGATORIO: LAS 10 LICENCIAS SE DEBEN CONFIGURAR DENTRO DE TEAM VITACURA EXISTENTE. | INADMISIBLE</a:t>
            </a:r>
            <a:endParaRPr lang="en-US" sz="1100" dirty="0"/>
          </a:p>
        </p:txBody>
      </p:sp>
      <p:sp>
        <p:nvSpPr>
          <p:cNvPr id="15" name="Text 12"/>
          <p:cNvSpPr/>
          <p:nvPr/>
        </p:nvSpPr>
        <p:spPr>
          <a:xfrm>
            <a:off x="640080" y="7086600"/>
            <a:ext cx="9418320" cy="3200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KeepSync   —   cristian.molina@keepsync.ai   —   Válido por 30 días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2026-08-14T16:12:48Z</dcterms:created>
  <dcterms:modified xsi:type="dcterms:W3CDTF">2026-08-14T16:12:48Z</dcterms:modified>
</cp:coreProperties>
</file>