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Lst>
  <p:notesMasterIdLst>
    <p:notesMasterId r:id="rId6"/>
  </p:notesMasterIdLst>
  <p:sldSz cx="10689336" cy="7562088"/>
  <p:notesSz cx="7562088" cy="10689336"/>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0E17"/>
        </a:solidFill>
      </p:bgPr>
    </p:bg>
    <p:spTree>
      <p:nvGrpSpPr>
        <p:cNvPr id="1" name=""/>
        <p:cNvGrpSpPr/>
        <p:nvPr/>
      </p:nvGrpSpPr>
      <p:grpSpPr>
        <a:xfrm>
          <a:off x="0" y="0"/>
          <a:ext cx="0" cy="0"/>
          <a:chOff x="0" y="0"/>
          <a:chExt cx="0" cy="0"/>
        </a:xfrm>
      </p:grpSpPr>
      <p:sp>
        <p:nvSpPr>
          <p:cNvPr id="2" name="Shape 0"/>
          <p:cNvSpPr/>
          <p:nvPr/>
        </p:nvSpPr>
        <p:spPr>
          <a:xfrm>
            <a:off x="7671816" y="320040"/>
            <a:ext cx="2651760" cy="457200"/>
          </a:xfrm>
          <a:prstGeom prst="roundRect">
            <a:avLst>
              <a:gd name="adj" fmla="val 12000"/>
            </a:avLst>
          </a:prstGeom>
          <a:solidFill>
            <a:srgbClr val="FF4D4D"/>
          </a:solidFill>
          <a:ln/>
        </p:spPr>
      </p:sp>
      <p:sp>
        <p:nvSpPr>
          <p:cNvPr id="3" name="Text 1"/>
          <p:cNvSpPr/>
          <p:nvPr/>
        </p:nvSpPr>
        <p:spPr>
          <a:xfrm>
            <a:off x="7671816" y="320040"/>
            <a:ext cx="2651760" cy="457200"/>
          </a:xfrm>
          <a:prstGeom prst="rect">
            <a:avLst/>
          </a:prstGeom>
          <a:noFill/>
          <a:ln/>
        </p:spPr>
        <p:txBody>
          <a:bodyPr wrap="square"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BORRADOR — identidad KeepSync sin confirmar</a:t>
            </a:r>
            <a:endParaRPr lang="en-US" sz="900" dirty="0"/>
          </a:p>
        </p:txBody>
      </p:sp>
      <p:pic>
        <p:nvPicPr>
          <p:cNvPr id="4" name="Image 0" descr="/home/user/ks-compra-agil/src/assets/logo-keepsync-blanco.png">    </p:cNvPr>
          <p:cNvPicPr>
            <a:picLocks noChangeAspect="1"/>
          </p:cNvPicPr>
          <p:nvPr/>
        </p:nvPicPr>
        <p:blipFill>
          <a:blip r:embed="rId1"/>
          <a:stretch>
            <a:fillRect/>
          </a:stretch>
        </p:blipFill>
        <p:spPr>
          <a:xfrm>
            <a:off x="640080" y="548640"/>
            <a:ext cx="914400" cy="896112"/>
          </a:xfrm>
          <a:prstGeom prst="rect">
            <a:avLst/>
          </a:prstGeom>
        </p:spPr>
      </p:pic>
      <p:sp>
        <p:nvSpPr>
          <p:cNvPr id="5" name="Text 2"/>
          <p:cNvSpPr/>
          <p:nvPr/>
        </p:nvSpPr>
        <p:spPr>
          <a:xfrm>
            <a:off x="1627632" y="713232"/>
            <a:ext cx="3657600" cy="548640"/>
          </a:xfrm>
          <a:prstGeom prst="rect">
            <a:avLst/>
          </a:prstGeom>
          <a:noFill/>
          <a:ln/>
        </p:spPr>
        <p:txBody>
          <a:bodyPr wrap="square" rtlCol="0" anchor="ctr"/>
          <a:lstStyle/>
          <a:p>
            <a:pPr indent="0" marL="0">
              <a:buNone/>
            </a:pPr>
            <a:r>
              <a:rPr lang="en-US" sz="2400" b="1" dirty="0">
                <a:solidFill>
                  <a:srgbClr val="FFFFFF"/>
                </a:solidFill>
                <a:latin typeface="Arial" pitchFamily="34" charset="0"/>
                <a:ea typeface="Arial" pitchFamily="34" charset="-122"/>
                <a:cs typeface="Arial" pitchFamily="34" charset="-120"/>
              </a:rPr>
              <a:t>KeepSync</a:t>
            </a:r>
            <a:endParaRPr lang="en-US" sz="2400" dirty="0"/>
          </a:p>
        </p:txBody>
      </p:sp>
      <p:sp>
        <p:nvSpPr>
          <p:cNvPr id="6" name="Text 3"/>
          <p:cNvSpPr/>
          <p:nvPr/>
        </p:nvSpPr>
        <p:spPr>
          <a:xfrm>
            <a:off x="640080" y="2743200"/>
            <a:ext cx="9418320" cy="548640"/>
          </a:xfrm>
          <a:prstGeom prst="rect">
            <a:avLst/>
          </a:prstGeom>
          <a:noFill/>
          <a:ln/>
        </p:spPr>
        <p:txBody>
          <a:bodyPr wrap="square" rtlCol="0" anchor="ctr"/>
          <a:lstStyle/>
          <a:p>
            <a:pPr indent="0" marL="0">
              <a:buNone/>
            </a:pPr>
            <a:r>
              <a:rPr lang="en-US" sz="3200" b="1" dirty="0">
                <a:solidFill>
                  <a:srgbClr val="FFFFFF"/>
                </a:solidFill>
                <a:latin typeface="Arial" pitchFamily="34" charset="0"/>
                <a:ea typeface="Arial" pitchFamily="34" charset="-122"/>
                <a:cs typeface="Arial" pitchFamily="34" charset="-120"/>
              </a:rPr>
              <a:t>PROPUESTA COMERCIAL</a:t>
            </a:r>
            <a:endParaRPr lang="en-US" sz="3200" dirty="0"/>
          </a:p>
        </p:txBody>
      </p:sp>
      <p:sp>
        <p:nvSpPr>
          <p:cNvPr id="7" name="Text 4"/>
          <p:cNvSpPr/>
          <p:nvPr/>
        </p:nvSpPr>
        <p:spPr>
          <a:xfrm>
            <a:off x="640080" y="3200400"/>
            <a:ext cx="9418320" cy="914400"/>
          </a:xfrm>
          <a:prstGeom prst="rect">
            <a:avLst/>
          </a:prstGeom>
          <a:noFill/>
          <a:ln/>
        </p:spPr>
        <p:txBody>
          <a:bodyPr wrap="square" rtlCol="0" anchor="ctr"/>
          <a:lstStyle/>
          <a:p>
            <a:pPr indent="0" marL="0">
              <a:buNone/>
            </a:pPr>
            <a:r>
              <a:rPr lang="en-US" sz="2200" dirty="0">
                <a:solidFill>
                  <a:srgbClr val="B4AAFA"/>
                </a:solidFill>
                <a:latin typeface="Arial" pitchFamily="34" charset="0"/>
                <a:ea typeface="Arial" pitchFamily="34" charset="-122"/>
                <a:cs typeface="Arial" pitchFamily="34" charset="-120"/>
              </a:rPr>
              <a:t>Licencias Claude Pro para CONSEJO FISCAL AUTONOMO</a:t>
            </a:r>
            <a:endParaRPr lang="en-US" sz="2200" dirty="0"/>
          </a:p>
        </p:txBody>
      </p:sp>
      <p:sp>
        <p:nvSpPr>
          <p:cNvPr id="8" name="Text 5"/>
          <p:cNvSpPr/>
          <p:nvPr/>
        </p:nvSpPr>
        <p:spPr>
          <a:xfrm>
            <a:off x="640080" y="4617720"/>
            <a:ext cx="9418320" cy="457200"/>
          </a:xfrm>
          <a:prstGeom prst="rect">
            <a:avLst/>
          </a:prstGeom>
          <a:noFill/>
          <a:ln/>
        </p:spPr>
        <p:txBody>
          <a:bodyPr wrap="square" rtlCol="0" anchor="ctr"/>
          <a:lstStyle/>
          <a:p>
            <a:pPr indent="0" marL="0">
              <a:buNone/>
            </a:pPr>
            <a:r>
              <a:rPr lang="en-US" sz="1400" dirty="0">
                <a:solidFill>
                  <a:srgbClr val="8A8F98"/>
                </a:solidFill>
                <a:latin typeface="Arial" pitchFamily="34" charset="0"/>
                <a:ea typeface="Arial" pitchFamily="34" charset="-122"/>
                <a:cs typeface="Arial" pitchFamily="34" charset="-120"/>
              </a:rPr>
              <a:t>Respuesta a solicitud de Compra Ágil — 1101340-9-COT26</a:t>
            </a:r>
            <a:endParaRPr lang="en-US" sz="1400" dirty="0"/>
          </a:p>
        </p:txBody>
      </p:sp>
      <p:sp>
        <p:nvSpPr>
          <p:cNvPr id="9" name="Shape 6"/>
          <p:cNvSpPr/>
          <p:nvPr/>
        </p:nvSpPr>
        <p:spPr>
          <a:xfrm>
            <a:off x="640080" y="5257800"/>
            <a:ext cx="9418320" cy="1417320"/>
          </a:xfrm>
          <a:prstGeom prst="roundRect">
            <a:avLst>
              <a:gd name="adj" fmla="val 5161"/>
            </a:avLst>
          </a:prstGeom>
          <a:solidFill>
            <a:srgbClr val="161527"/>
          </a:solidFill>
          <a:ln/>
        </p:spPr>
      </p:sp>
      <p:sp>
        <p:nvSpPr>
          <p:cNvPr id="10" name="Text 7"/>
          <p:cNvSpPr/>
          <p:nvPr/>
        </p:nvSpPr>
        <p:spPr>
          <a:xfrm>
            <a:off x="914400" y="5394960"/>
            <a:ext cx="2103120" cy="365760"/>
          </a:xfrm>
          <a:prstGeom prst="rect">
            <a:avLst/>
          </a:prstGeom>
          <a:noFill/>
          <a:ln/>
        </p:spPr>
        <p:txBody>
          <a:bodyPr wrap="square" rtlCol="0" anchor="ctr"/>
          <a:lstStyle/>
          <a:p>
            <a:pPr indent="0" marL="0">
              <a:buNone/>
            </a:pPr>
            <a:r>
              <a:rPr lang="en-US" sz="1100" b="1" dirty="0">
                <a:solidFill>
                  <a:srgbClr val="8A8F98"/>
                </a:solidFill>
                <a:latin typeface="Arial" pitchFamily="34" charset="0"/>
                <a:ea typeface="Arial" pitchFamily="34" charset="-122"/>
                <a:cs typeface="Arial" pitchFamily="34" charset="-120"/>
              </a:rPr>
              <a:t>CLIENTE</a:t>
            </a:r>
            <a:endParaRPr lang="en-US" sz="1100" dirty="0"/>
          </a:p>
        </p:txBody>
      </p:sp>
      <p:sp>
        <p:nvSpPr>
          <p:cNvPr id="11" name="Text 8"/>
          <p:cNvSpPr/>
          <p:nvPr/>
        </p:nvSpPr>
        <p:spPr>
          <a:xfrm>
            <a:off x="3017520" y="5394960"/>
            <a:ext cx="6858000" cy="365760"/>
          </a:xfrm>
          <a:prstGeom prst="rect">
            <a:avLst/>
          </a:prstGeom>
          <a:noFill/>
          <a:ln/>
        </p:spPr>
        <p:txBody>
          <a:bodyPr wrap="square" rtlCol="0" anchor="ctr"/>
          <a:lstStyle/>
          <a:p>
            <a:pPr indent="0" marL="0">
              <a:buNone/>
            </a:pPr>
            <a:r>
              <a:rPr lang="en-US" sz="1300" dirty="0">
                <a:solidFill>
                  <a:srgbClr val="FFFFFF"/>
                </a:solidFill>
                <a:latin typeface="Arial" pitchFamily="34" charset="0"/>
                <a:ea typeface="Arial" pitchFamily="34" charset="-122"/>
                <a:cs typeface="Arial" pitchFamily="34" charset="-120"/>
              </a:rPr>
              <a:t>CONSEJO FISCAL AUTONOMO</a:t>
            </a:r>
            <a:endParaRPr lang="en-US" sz="1300" dirty="0"/>
          </a:p>
        </p:txBody>
      </p:sp>
      <p:sp>
        <p:nvSpPr>
          <p:cNvPr id="12" name="Text 9"/>
          <p:cNvSpPr/>
          <p:nvPr/>
        </p:nvSpPr>
        <p:spPr>
          <a:xfrm>
            <a:off x="914400" y="5760720"/>
            <a:ext cx="2103120" cy="365760"/>
          </a:xfrm>
          <a:prstGeom prst="rect">
            <a:avLst/>
          </a:prstGeom>
          <a:noFill/>
          <a:ln/>
        </p:spPr>
        <p:txBody>
          <a:bodyPr wrap="square" rtlCol="0" anchor="ctr"/>
          <a:lstStyle/>
          <a:p>
            <a:pPr indent="0" marL="0">
              <a:buNone/>
            </a:pPr>
            <a:r>
              <a:rPr lang="en-US" sz="1100" b="1" dirty="0">
                <a:solidFill>
                  <a:srgbClr val="8A8F98"/>
                </a:solidFill>
                <a:latin typeface="Arial" pitchFamily="34" charset="0"/>
                <a:ea typeface="Arial" pitchFamily="34" charset="-122"/>
                <a:cs typeface="Arial" pitchFamily="34" charset="-120"/>
              </a:rPr>
              <a:t>PROYECTO</a:t>
            </a:r>
            <a:endParaRPr lang="en-US" sz="1100" dirty="0"/>
          </a:p>
        </p:txBody>
      </p:sp>
      <p:sp>
        <p:nvSpPr>
          <p:cNvPr id="13" name="Text 10"/>
          <p:cNvSpPr/>
          <p:nvPr/>
        </p:nvSpPr>
        <p:spPr>
          <a:xfrm>
            <a:off x="3017520" y="5760720"/>
            <a:ext cx="6858000" cy="365760"/>
          </a:xfrm>
          <a:prstGeom prst="rect">
            <a:avLst/>
          </a:prstGeom>
          <a:noFill/>
          <a:ln/>
        </p:spPr>
        <p:txBody>
          <a:bodyPr wrap="square" rtlCol="0" anchor="ctr"/>
          <a:lstStyle/>
          <a:p>
            <a:pPr indent="0" marL="0">
              <a:buNone/>
            </a:pPr>
            <a:r>
              <a:rPr lang="en-US" sz="1300" dirty="0">
                <a:solidFill>
                  <a:srgbClr val="FFFFFF"/>
                </a:solidFill>
                <a:latin typeface="Arial" pitchFamily="34" charset="0"/>
                <a:ea typeface="Arial" pitchFamily="34" charset="-122"/>
                <a:cs typeface="Arial" pitchFamily="34" charset="-120"/>
              </a:rPr>
              <a:t>Suscripción anual Claude Pro o equivalente</a:t>
            </a:r>
            <a:endParaRPr lang="en-US" sz="1300" dirty="0"/>
          </a:p>
        </p:txBody>
      </p:sp>
      <p:sp>
        <p:nvSpPr>
          <p:cNvPr id="14" name="Text 11"/>
          <p:cNvSpPr/>
          <p:nvPr/>
        </p:nvSpPr>
        <p:spPr>
          <a:xfrm>
            <a:off x="914400" y="6126480"/>
            <a:ext cx="2103120" cy="365760"/>
          </a:xfrm>
          <a:prstGeom prst="rect">
            <a:avLst/>
          </a:prstGeom>
          <a:noFill/>
          <a:ln/>
        </p:spPr>
        <p:txBody>
          <a:bodyPr wrap="square" rtlCol="0" anchor="ctr"/>
          <a:lstStyle/>
          <a:p>
            <a:pPr indent="0" marL="0">
              <a:buNone/>
            </a:pPr>
            <a:r>
              <a:rPr lang="en-US" sz="1100" b="1" dirty="0">
                <a:solidFill>
                  <a:srgbClr val="8A8F98"/>
                </a:solidFill>
                <a:latin typeface="Arial" pitchFamily="34" charset="0"/>
                <a:ea typeface="Arial" pitchFamily="34" charset="-122"/>
                <a:cs typeface="Arial" pitchFamily="34" charset="-120"/>
              </a:rPr>
              <a:t>DIRIGIDO A</a:t>
            </a:r>
            <a:endParaRPr lang="en-US" sz="1100" dirty="0"/>
          </a:p>
        </p:txBody>
      </p:sp>
      <p:sp>
        <p:nvSpPr>
          <p:cNvPr id="15" name="Text 12"/>
          <p:cNvSpPr/>
          <p:nvPr/>
        </p:nvSpPr>
        <p:spPr>
          <a:xfrm>
            <a:off x="3017520" y="6126480"/>
            <a:ext cx="6858000" cy="365760"/>
          </a:xfrm>
          <a:prstGeom prst="rect">
            <a:avLst/>
          </a:prstGeom>
          <a:noFill/>
          <a:ln/>
        </p:spPr>
        <p:txBody>
          <a:bodyPr wrap="square" rtlCol="0" anchor="ctr"/>
          <a:lstStyle/>
          <a:p>
            <a:pPr indent="0" marL="0">
              <a:buNone/>
            </a:pPr>
            <a:r>
              <a:rPr lang="en-US" sz="1300" dirty="0">
                <a:solidFill>
                  <a:srgbClr val="FFFFFF"/>
                </a:solidFill>
                <a:latin typeface="Arial" pitchFamily="34" charset="0"/>
                <a:ea typeface="Arial" pitchFamily="34" charset="-122"/>
                <a:cs typeface="Arial" pitchFamily="34" charset="-120"/>
              </a:rPr>
              <a:t>Teatinos 120, Santiago</a:t>
            </a:r>
            <a:endParaRPr lang="en-US" sz="1300" dirty="0"/>
          </a:p>
        </p:txBody>
      </p:sp>
      <p:sp>
        <p:nvSpPr>
          <p:cNvPr id="16" name="Text 13"/>
          <p:cNvSpPr/>
          <p:nvPr/>
        </p:nvSpPr>
        <p:spPr>
          <a:xfrm>
            <a:off x="640080" y="6995160"/>
            <a:ext cx="9418320" cy="320040"/>
          </a:xfrm>
          <a:prstGeom prst="rect">
            <a:avLst/>
          </a:prstGeom>
          <a:noFill/>
          <a:ln/>
        </p:spPr>
        <p:txBody>
          <a:bodyPr wrap="square" rtlCol="0" anchor="ctr"/>
          <a:lstStyle/>
          <a:p>
            <a:pPr indent="0" marL="0">
              <a:buNone/>
            </a:pPr>
            <a:r>
              <a:rPr lang="en-US" sz="1100" dirty="0">
                <a:solidFill>
                  <a:srgbClr val="8A8F98"/>
                </a:solidFill>
                <a:latin typeface="Arial" pitchFamily="34" charset="0"/>
                <a:ea typeface="Arial" pitchFamily="34" charset="-122"/>
                <a:cs typeface="Arial" pitchFamily="34" charset="-120"/>
              </a:rPr>
              <a:t>Presentado por KeepSync  —  septiembre de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E0E17"/>
        </a:solidFill>
      </p:bgPr>
    </p:bg>
    <p:spTree>
      <p:nvGrpSpPr>
        <p:cNvPr id="1" name=""/>
        <p:cNvGrpSpPr/>
        <p:nvPr/>
      </p:nvGrpSpPr>
      <p:grpSpPr>
        <a:xfrm>
          <a:off x="0" y="0"/>
          <a:ext cx="0" cy="0"/>
          <a:chOff x="0" y="0"/>
          <a:chExt cx="0" cy="0"/>
        </a:xfrm>
      </p:grpSpPr>
      <p:sp>
        <p:nvSpPr>
          <p:cNvPr id="2" name="Text 0"/>
          <p:cNvSpPr/>
          <p:nvPr/>
        </p:nvSpPr>
        <p:spPr>
          <a:xfrm>
            <a:off x="640080" y="457200"/>
            <a:ext cx="9418320" cy="457200"/>
          </a:xfrm>
          <a:prstGeom prst="rect">
            <a:avLst/>
          </a:prstGeom>
          <a:noFill/>
          <a:ln/>
        </p:spPr>
        <p:txBody>
          <a:bodyPr wrap="square" rtlCol="0" anchor="ctr"/>
          <a:lstStyle/>
          <a:p>
            <a:pPr indent="0" marL="0">
              <a:buNone/>
            </a:pPr>
            <a:r>
              <a:rPr lang="en-US" sz="2800" b="1" dirty="0">
                <a:solidFill>
                  <a:srgbClr val="FFFFFF"/>
                </a:solidFill>
                <a:latin typeface="Arial" pitchFamily="34" charset="0"/>
                <a:ea typeface="Arial" pitchFamily="34" charset="-122"/>
                <a:cs typeface="Arial" pitchFamily="34" charset="-120"/>
              </a:rPr>
              <a:t>Solución propuesta</a:t>
            </a:r>
            <a:endParaRPr lang="en-US" sz="2800" dirty="0"/>
          </a:p>
        </p:txBody>
      </p:sp>
      <p:sp>
        <p:nvSpPr>
          <p:cNvPr id="3" name="Text 1"/>
          <p:cNvSpPr/>
          <p:nvPr/>
        </p:nvSpPr>
        <p:spPr>
          <a:xfrm>
            <a:off x="640080" y="960120"/>
            <a:ext cx="9418320" cy="502920"/>
          </a:xfrm>
          <a:prstGeom prst="rect">
            <a:avLst/>
          </a:prstGeom>
          <a:noFill/>
          <a:ln/>
        </p:spPr>
        <p:txBody>
          <a:bodyPr wrap="square" rtlCol="0" anchor="ctr"/>
          <a:lstStyle/>
          <a:p>
            <a:pPr indent="0" marL="0">
              <a:buNone/>
            </a:pPr>
            <a:r>
              <a:rPr lang="en-US" sz="1400" dirty="0">
                <a:solidFill>
                  <a:srgbClr val="8A8F98"/>
                </a:solidFill>
                <a:latin typeface="Arial" pitchFamily="34" charset="0"/>
                <a:ea typeface="Arial" pitchFamily="34" charset="-122"/>
                <a:cs typeface="Arial" pitchFamily="34" charset="-120"/>
              </a:rPr>
              <a:t>1 cuenta Claude Pro por 12 meses, con acceso al asistente de IA de Anthropic para el equipo de CONSEJO FISCAL AUTONOMO.</a:t>
            </a:r>
            <a:endParaRPr lang="en-US" sz="1400" dirty="0"/>
          </a:p>
        </p:txBody>
      </p:sp>
      <p:sp>
        <p:nvSpPr>
          <p:cNvPr id="4" name="Shape 2"/>
          <p:cNvSpPr/>
          <p:nvPr/>
        </p:nvSpPr>
        <p:spPr>
          <a:xfrm>
            <a:off x="640080" y="1691640"/>
            <a:ext cx="2926080" cy="1737360"/>
          </a:xfrm>
          <a:prstGeom prst="roundRect">
            <a:avLst>
              <a:gd name="adj" fmla="val 3158"/>
            </a:avLst>
          </a:prstGeom>
          <a:solidFill>
            <a:srgbClr val="161527"/>
          </a:solidFill>
          <a:ln/>
        </p:spPr>
      </p:sp>
      <p:sp>
        <p:nvSpPr>
          <p:cNvPr id="5" name="Shape 3"/>
          <p:cNvSpPr/>
          <p:nvPr/>
        </p:nvSpPr>
        <p:spPr>
          <a:xfrm>
            <a:off x="868680" y="1920240"/>
            <a:ext cx="365760" cy="365760"/>
          </a:xfrm>
          <a:prstGeom prst="ellipse">
            <a:avLst/>
          </a:prstGeom>
          <a:solidFill>
            <a:srgbClr val="786CF0"/>
          </a:solidFill>
          <a:ln/>
        </p:spPr>
      </p:sp>
      <p:sp>
        <p:nvSpPr>
          <p:cNvPr id="6" name="Text 4"/>
          <p:cNvSpPr/>
          <p:nvPr/>
        </p:nvSpPr>
        <p:spPr>
          <a:xfrm>
            <a:off x="868680" y="1920240"/>
            <a:ext cx="365760" cy="36576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7" name="Text 5"/>
          <p:cNvSpPr/>
          <p:nvPr/>
        </p:nvSpPr>
        <p:spPr>
          <a:xfrm>
            <a:off x="868680" y="2423160"/>
            <a:ext cx="2468880" cy="365760"/>
          </a:xfrm>
          <a:prstGeom prst="rect">
            <a:avLst/>
          </a:prstGeom>
          <a:noFill/>
          <a:ln/>
        </p:spPr>
        <p:txBody>
          <a:bodyPr wrap="square" rtlCol="0" anchor="ctr"/>
          <a:lstStyle/>
          <a:p>
            <a:pPr indent="0" marL="0">
              <a:buNone/>
            </a:pPr>
            <a:r>
              <a:rPr lang="en-US" sz="1300" b="1" dirty="0">
                <a:solidFill>
                  <a:srgbClr val="FFFFFF"/>
                </a:solidFill>
                <a:latin typeface="Arial" pitchFamily="34" charset="0"/>
                <a:ea typeface="Arial" pitchFamily="34" charset="-122"/>
                <a:cs typeface="Arial" pitchFamily="34" charset="-120"/>
              </a:rPr>
              <a:t>Capacidad ampliada</a:t>
            </a:r>
            <a:endParaRPr lang="en-US" sz="1300" dirty="0"/>
          </a:p>
        </p:txBody>
      </p:sp>
      <p:sp>
        <p:nvSpPr>
          <p:cNvPr id="8" name="Text 6"/>
          <p:cNvSpPr/>
          <p:nvPr/>
        </p:nvSpPr>
        <p:spPr>
          <a:xfrm>
            <a:off x="868680" y="2788920"/>
            <a:ext cx="2468880" cy="548640"/>
          </a:xfrm>
          <a:prstGeom prst="rect">
            <a:avLst/>
          </a:prstGeom>
          <a:noFill/>
          <a:ln/>
        </p:spPr>
        <p:txBody>
          <a:bodyPr wrap="square" rtlCol="0" anchor="ctr"/>
          <a:lstStyle/>
          <a:p>
            <a:pPr indent="0" marL="0">
              <a:buNone/>
            </a:pPr>
            <a:r>
              <a:rPr lang="en-US" sz="1000" dirty="0">
                <a:solidFill>
                  <a:srgbClr val="8A8F98"/>
                </a:solidFill>
                <a:latin typeface="Arial" pitchFamily="34" charset="0"/>
                <a:ea typeface="Arial" pitchFamily="34" charset="-122"/>
                <a:cs typeface="Arial" pitchFamily="34" charset="-120"/>
              </a:rPr>
              <a:t>Uso significativamente mayor que el plan gratuito, con acceso prioritario en horas de alta demanda.</a:t>
            </a:r>
            <a:endParaRPr lang="en-US" sz="1000" dirty="0"/>
          </a:p>
        </p:txBody>
      </p:sp>
      <p:sp>
        <p:nvSpPr>
          <p:cNvPr id="9" name="Shape 7"/>
          <p:cNvSpPr/>
          <p:nvPr/>
        </p:nvSpPr>
        <p:spPr>
          <a:xfrm>
            <a:off x="3794760" y="1691640"/>
            <a:ext cx="2926080" cy="1737360"/>
          </a:xfrm>
          <a:prstGeom prst="roundRect">
            <a:avLst>
              <a:gd name="adj" fmla="val 3158"/>
            </a:avLst>
          </a:prstGeom>
          <a:solidFill>
            <a:srgbClr val="161527"/>
          </a:solidFill>
          <a:ln/>
        </p:spPr>
      </p:sp>
      <p:sp>
        <p:nvSpPr>
          <p:cNvPr id="10" name="Shape 8"/>
          <p:cNvSpPr/>
          <p:nvPr/>
        </p:nvSpPr>
        <p:spPr>
          <a:xfrm>
            <a:off x="4023360" y="1920240"/>
            <a:ext cx="365760" cy="365760"/>
          </a:xfrm>
          <a:prstGeom prst="ellipse">
            <a:avLst/>
          </a:prstGeom>
          <a:solidFill>
            <a:srgbClr val="786CF0"/>
          </a:solidFill>
          <a:ln/>
        </p:spPr>
      </p:sp>
      <p:sp>
        <p:nvSpPr>
          <p:cNvPr id="11" name="Text 9"/>
          <p:cNvSpPr/>
          <p:nvPr/>
        </p:nvSpPr>
        <p:spPr>
          <a:xfrm>
            <a:off x="4023360" y="1920240"/>
            <a:ext cx="365760" cy="36576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2" name="Text 10"/>
          <p:cNvSpPr/>
          <p:nvPr/>
        </p:nvSpPr>
        <p:spPr>
          <a:xfrm>
            <a:off x="4023360" y="2423160"/>
            <a:ext cx="2468880" cy="365760"/>
          </a:xfrm>
          <a:prstGeom prst="rect">
            <a:avLst/>
          </a:prstGeom>
          <a:noFill/>
          <a:ln/>
        </p:spPr>
        <p:txBody>
          <a:bodyPr wrap="square" rtlCol="0" anchor="ctr"/>
          <a:lstStyle/>
          <a:p>
            <a:pPr indent="0" marL="0">
              <a:buNone/>
            </a:pPr>
            <a:r>
              <a:rPr lang="en-US" sz="1300" b="1" dirty="0">
                <a:solidFill>
                  <a:srgbClr val="FFFFFF"/>
                </a:solidFill>
                <a:latin typeface="Arial" pitchFamily="34" charset="0"/>
                <a:ea typeface="Arial" pitchFamily="34" charset="-122"/>
                <a:cs typeface="Arial" pitchFamily="34" charset="-120"/>
              </a:rPr>
              <a:t>Modelos avanzados</a:t>
            </a:r>
            <a:endParaRPr lang="en-US" sz="1300" dirty="0"/>
          </a:p>
        </p:txBody>
      </p:sp>
      <p:sp>
        <p:nvSpPr>
          <p:cNvPr id="13" name="Text 11"/>
          <p:cNvSpPr/>
          <p:nvPr/>
        </p:nvSpPr>
        <p:spPr>
          <a:xfrm>
            <a:off x="4023360" y="2788920"/>
            <a:ext cx="2468880" cy="548640"/>
          </a:xfrm>
          <a:prstGeom prst="rect">
            <a:avLst/>
          </a:prstGeom>
          <a:noFill/>
          <a:ln/>
        </p:spPr>
        <p:txBody>
          <a:bodyPr wrap="square" rtlCol="0" anchor="ctr"/>
          <a:lstStyle/>
          <a:p>
            <a:pPr indent="0" marL="0">
              <a:buNone/>
            </a:pPr>
            <a:r>
              <a:rPr lang="en-US" sz="1000" dirty="0">
                <a:solidFill>
                  <a:srgbClr val="8A8F98"/>
                </a:solidFill>
                <a:latin typeface="Arial" pitchFamily="34" charset="0"/>
                <a:ea typeface="Arial" pitchFamily="34" charset="-122"/>
                <a:cs typeface="Arial" pitchFamily="34" charset="-120"/>
              </a:rPr>
              <a:t>Acceso a los modelos más capaces de Claude para redacción, análisis de documentos, código y automatización.</a:t>
            </a:r>
            <a:endParaRPr lang="en-US" sz="1000" dirty="0"/>
          </a:p>
        </p:txBody>
      </p:sp>
      <p:sp>
        <p:nvSpPr>
          <p:cNvPr id="14" name="Shape 12"/>
          <p:cNvSpPr/>
          <p:nvPr/>
        </p:nvSpPr>
        <p:spPr>
          <a:xfrm>
            <a:off x="6949440" y="1691640"/>
            <a:ext cx="2926080" cy="1737360"/>
          </a:xfrm>
          <a:prstGeom prst="roundRect">
            <a:avLst>
              <a:gd name="adj" fmla="val 3158"/>
            </a:avLst>
          </a:prstGeom>
          <a:solidFill>
            <a:srgbClr val="161527"/>
          </a:solidFill>
          <a:ln/>
        </p:spPr>
      </p:sp>
      <p:sp>
        <p:nvSpPr>
          <p:cNvPr id="15" name="Shape 13"/>
          <p:cNvSpPr/>
          <p:nvPr/>
        </p:nvSpPr>
        <p:spPr>
          <a:xfrm>
            <a:off x="7178040" y="1920240"/>
            <a:ext cx="365760" cy="365760"/>
          </a:xfrm>
          <a:prstGeom prst="ellipse">
            <a:avLst/>
          </a:prstGeom>
          <a:solidFill>
            <a:srgbClr val="786CF0"/>
          </a:solidFill>
          <a:ln/>
        </p:spPr>
      </p:sp>
      <p:sp>
        <p:nvSpPr>
          <p:cNvPr id="16" name="Text 14"/>
          <p:cNvSpPr/>
          <p:nvPr/>
        </p:nvSpPr>
        <p:spPr>
          <a:xfrm>
            <a:off x="7178040" y="1920240"/>
            <a:ext cx="365760" cy="36576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7" name="Text 15"/>
          <p:cNvSpPr/>
          <p:nvPr/>
        </p:nvSpPr>
        <p:spPr>
          <a:xfrm>
            <a:off x="7178040" y="2423160"/>
            <a:ext cx="2468880" cy="365760"/>
          </a:xfrm>
          <a:prstGeom prst="rect">
            <a:avLst/>
          </a:prstGeom>
          <a:noFill/>
          <a:ln/>
        </p:spPr>
        <p:txBody>
          <a:bodyPr wrap="square" rtlCol="0" anchor="ctr"/>
          <a:lstStyle/>
          <a:p>
            <a:pPr indent="0" marL="0">
              <a:buNone/>
            </a:pPr>
            <a:r>
              <a:rPr lang="en-US" sz="1300" b="1" dirty="0">
                <a:solidFill>
                  <a:srgbClr val="FFFFFF"/>
                </a:solidFill>
                <a:latin typeface="Arial" pitchFamily="34" charset="0"/>
                <a:ea typeface="Arial" pitchFamily="34" charset="-122"/>
                <a:cs typeface="Arial" pitchFamily="34" charset="-120"/>
              </a:rPr>
              <a:t>Herramientas de trabajo</a:t>
            </a:r>
            <a:endParaRPr lang="en-US" sz="1300" dirty="0"/>
          </a:p>
        </p:txBody>
      </p:sp>
      <p:sp>
        <p:nvSpPr>
          <p:cNvPr id="18" name="Text 16"/>
          <p:cNvSpPr/>
          <p:nvPr/>
        </p:nvSpPr>
        <p:spPr>
          <a:xfrm>
            <a:off x="7178040" y="2788920"/>
            <a:ext cx="2468880" cy="548640"/>
          </a:xfrm>
          <a:prstGeom prst="rect">
            <a:avLst/>
          </a:prstGeom>
          <a:noFill/>
          <a:ln/>
        </p:spPr>
        <p:txBody>
          <a:bodyPr wrap="square" rtlCol="0" anchor="ctr"/>
          <a:lstStyle/>
          <a:p>
            <a:pPr indent="0" marL="0">
              <a:buNone/>
            </a:pPr>
            <a:r>
              <a:rPr lang="en-US" sz="1000" dirty="0">
                <a:solidFill>
                  <a:srgbClr val="8A8F98"/>
                </a:solidFill>
                <a:latin typeface="Arial" pitchFamily="34" charset="0"/>
                <a:ea typeface="Arial" pitchFamily="34" charset="-122"/>
                <a:cs typeface="Arial" pitchFamily="34" charset="-120"/>
              </a:rPr>
              <a:t>Proyectos, carga de archivos y funciones de investigación y razonamiento extendido para tareas complejas.</a:t>
            </a:r>
            <a:endParaRPr lang="en-US" sz="1000" dirty="0"/>
          </a:p>
        </p:txBody>
      </p:sp>
      <p:sp>
        <p:nvSpPr>
          <p:cNvPr id="19" name="Text 17"/>
          <p:cNvSpPr/>
          <p:nvPr/>
        </p:nvSpPr>
        <p:spPr>
          <a:xfrm>
            <a:off x="640080" y="3703320"/>
            <a:ext cx="9418320" cy="365760"/>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Cumplimiento del requerimiento</a:t>
            </a:r>
            <a:endParaRPr lang="en-US" sz="1600" dirty="0"/>
          </a:p>
        </p:txBody>
      </p:sp>
      <p:sp>
        <p:nvSpPr>
          <p:cNvPr id="20" name="Shape 18"/>
          <p:cNvSpPr/>
          <p:nvPr/>
        </p:nvSpPr>
        <p:spPr>
          <a:xfrm>
            <a:off x="640080" y="4178808"/>
            <a:ext cx="256032" cy="256032"/>
          </a:xfrm>
          <a:prstGeom prst="ellipse">
            <a:avLst/>
          </a:prstGeom>
          <a:solidFill>
            <a:srgbClr val="786CF0"/>
          </a:solidFill>
          <a:ln/>
        </p:spPr>
      </p:sp>
      <p:sp>
        <p:nvSpPr>
          <p:cNvPr id="21" name="Text 19"/>
          <p:cNvSpPr/>
          <p:nvPr/>
        </p:nvSpPr>
        <p:spPr>
          <a:xfrm>
            <a:off x="640080" y="4178808"/>
            <a:ext cx="256032" cy="256032"/>
          </a:xfrm>
          <a:prstGeom prst="rect">
            <a:avLst/>
          </a:prstGeom>
          <a:noFill/>
          <a:ln/>
        </p:spPr>
        <p:txBody>
          <a:bodyPr wrap="square"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OK</a:t>
            </a:r>
            <a:endParaRPr lang="en-US" sz="800" dirty="0"/>
          </a:p>
        </p:txBody>
      </p:sp>
      <p:sp>
        <p:nvSpPr>
          <p:cNvPr id="22" name="Text 20"/>
          <p:cNvSpPr/>
          <p:nvPr/>
        </p:nvSpPr>
        <p:spPr>
          <a:xfrm>
            <a:off x="1005840" y="4160520"/>
            <a:ext cx="8961120" cy="320040"/>
          </a:xfrm>
          <a:prstGeom prst="rect">
            <a:avLst/>
          </a:prstGeom>
          <a:noFill/>
          <a:ln/>
        </p:spPr>
        <p:txBody>
          <a:bodyPr wrap="square" rtlCol="0" anchor="ctr"/>
          <a:lstStyle/>
          <a:p>
            <a:pPr indent="0" marL="0">
              <a:buNone/>
            </a:pPr>
            <a:r>
              <a:rPr lang="en-US" sz="1200" dirty="0">
                <a:solidFill>
                  <a:srgbClr val="FFFFFF"/>
                </a:solidFill>
                <a:latin typeface="Arial" pitchFamily="34" charset="0"/>
                <a:ea typeface="Arial" pitchFamily="34" charset="-122"/>
                <a:cs typeface="Arial" pitchFamily="34" charset="-120"/>
              </a:rPr>
              <a:t>Producto/servicio — 1 licencia Claude Pro — 12 meses</a:t>
            </a:r>
            <a:endParaRPr lang="en-US" sz="1200" dirty="0"/>
          </a:p>
        </p:txBody>
      </p:sp>
      <p:sp>
        <p:nvSpPr>
          <p:cNvPr id="23" name="Shape 21"/>
          <p:cNvSpPr/>
          <p:nvPr/>
        </p:nvSpPr>
        <p:spPr>
          <a:xfrm>
            <a:off x="640080" y="4562856"/>
            <a:ext cx="256032" cy="256032"/>
          </a:xfrm>
          <a:prstGeom prst="ellipse">
            <a:avLst/>
          </a:prstGeom>
          <a:solidFill>
            <a:srgbClr val="786CF0"/>
          </a:solidFill>
          <a:ln/>
        </p:spPr>
      </p:sp>
      <p:sp>
        <p:nvSpPr>
          <p:cNvPr id="24" name="Text 22"/>
          <p:cNvSpPr/>
          <p:nvPr/>
        </p:nvSpPr>
        <p:spPr>
          <a:xfrm>
            <a:off x="640080" y="4562856"/>
            <a:ext cx="256032" cy="256032"/>
          </a:xfrm>
          <a:prstGeom prst="rect">
            <a:avLst/>
          </a:prstGeom>
          <a:noFill/>
          <a:ln/>
        </p:spPr>
        <p:txBody>
          <a:bodyPr wrap="square"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OK</a:t>
            </a:r>
            <a:endParaRPr lang="en-US" sz="800" dirty="0"/>
          </a:p>
        </p:txBody>
      </p:sp>
      <p:sp>
        <p:nvSpPr>
          <p:cNvPr id="25" name="Text 23"/>
          <p:cNvSpPr/>
          <p:nvPr/>
        </p:nvSpPr>
        <p:spPr>
          <a:xfrm>
            <a:off x="1005840" y="4544568"/>
            <a:ext cx="8961120" cy="320040"/>
          </a:xfrm>
          <a:prstGeom prst="rect">
            <a:avLst/>
          </a:prstGeom>
          <a:noFill/>
          <a:ln/>
        </p:spPr>
        <p:txBody>
          <a:bodyPr wrap="square" rtlCol="0" anchor="ctr"/>
          <a:lstStyle/>
          <a:p>
            <a:pPr indent="0" marL="0">
              <a:buNone/>
            </a:pPr>
            <a:r>
              <a:rPr lang="en-US" sz="1200" dirty="0">
                <a:solidFill>
                  <a:srgbClr val="FFFFFF"/>
                </a:solidFill>
                <a:latin typeface="Arial" pitchFamily="34" charset="0"/>
                <a:ea typeface="Arial" pitchFamily="34" charset="-122"/>
                <a:cs typeface="Arial" pitchFamily="34" charset="-120"/>
              </a:rPr>
              <a:t>Plazo de entrega — activación en 5 días hábil(es)</a:t>
            </a:r>
            <a:endParaRPr lang="en-US" sz="1200" dirty="0"/>
          </a:p>
        </p:txBody>
      </p:sp>
      <p:sp>
        <p:nvSpPr>
          <p:cNvPr id="26" name="Shape 24"/>
          <p:cNvSpPr/>
          <p:nvPr/>
        </p:nvSpPr>
        <p:spPr>
          <a:xfrm>
            <a:off x="640080" y="4946904"/>
            <a:ext cx="256032" cy="256032"/>
          </a:xfrm>
          <a:prstGeom prst="ellipse">
            <a:avLst/>
          </a:prstGeom>
          <a:solidFill>
            <a:srgbClr val="786CF0"/>
          </a:solidFill>
          <a:ln/>
        </p:spPr>
      </p:sp>
      <p:sp>
        <p:nvSpPr>
          <p:cNvPr id="27" name="Text 25"/>
          <p:cNvSpPr/>
          <p:nvPr/>
        </p:nvSpPr>
        <p:spPr>
          <a:xfrm>
            <a:off x="640080" y="4946904"/>
            <a:ext cx="256032" cy="256032"/>
          </a:xfrm>
          <a:prstGeom prst="rect">
            <a:avLst/>
          </a:prstGeom>
          <a:noFill/>
          <a:ln/>
        </p:spPr>
        <p:txBody>
          <a:bodyPr wrap="square"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OK</a:t>
            </a:r>
            <a:endParaRPr lang="en-US" sz="800" dirty="0"/>
          </a:p>
        </p:txBody>
      </p:sp>
      <p:sp>
        <p:nvSpPr>
          <p:cNvPr id="28" name="Text 26"/>
          <p:cNvSpPr/>
          <p:nvPr/>
        </p:nvSpPr>
        <p:spPr>
          <a:xfrm>
            <a:off x="1005840" y="4928616"/>
            <a:ext cx="8961120" cy="320040"/>
          </a:xfrm>
          <a:prstGeom prst="rect">
            <a:avLst/>
          </a:prstGeom>
          <a:noFill/>
          <a:ln/>
        </p:spPr>
        <p:txBody>
          <a:bodyPr wrap="square" rtlCol="0" anchor="ctr"/>
          <a:lstStyle/>
          <a:p>
            <a:pPr indent="0" marL="0">
              <a:buNone/>
            </a:pPr>
            <a:r>
              <a:rPr lang="en-US" sz="1200" dirty="0">
                <a:solidFill>
                  <a:srgbClr val="FFFFFF"/>
                </a:solidFill>
                <a:latin typeface="Arial" pitchFamily="34" charset="0"/>
                <a:ea typeface="Arial" pitchFamily="34" charset="-122"/>
                <a:cs typeface="Arial" pitchFamily="34" charset="-120"/>
              </a:rPr>
              <a:t>Despacho digital — incluido en el valor total</a:t>
            </a:r>
            <a:endParaRPr lang="en-US" sz="1200" dirty="0"/>
          </a:p>
        </p:txBody>
      </p:sp>
      <p:sp>
        <p:nvSpPr>
          <p:cNvPr id="29" name="Text 27"/>
          <p:cNvSpPr/>
          <p:nvPr/>
        </p:nvSpPr>
        <p:spPr>
          <a:xfrm>
            <a:off x="640080" y="6903720"/>
            <a:ext cx="9418320" cy="457200"/>
          </a:xfrm>
          <a:prstGeom prst="rect">
            <a:avLst/>
          </a:prstGeom>
          <a:noFill/>
          <a:ln/>
        </p:spPr>
        <p:txBody>
          <a:bodyPr wrap="square" rtlCol="0" anchor="ctr"/>
          <a:lstStyle/>
          <a:p>
            <a:pPr indent="0" marL="0">
              <a:buNone/>
            </a:pPr>
            <a:r>
              <a:rPr lang="en-US" sz="1000" i="1" dirty="0">
                <a:solidFill>
                  <a:srgbClr val="8A8F98"/>
                </a:solidFill>
                <a:latin typeface="Arial" pitchFamily="34" charset="0"/>
                <a:ea typeface="Arial" pitchFamily="34" charset="-122"/>
                <a:cs typeface="Arial" pitchFamily="34" charset="-120"/>
              </a:rPr>
              <a:t>Proveedor hábil en el Sistema de Información (Mercado Público) — Cotización formal adjunta con el detalle de lo ofertado.</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E0E17"/>
        </a:solidFill>
      </p:bgPr>
    </p:bg>
    <p:spTree>
      <p:nvGrpSpPr>
        <p:cNvPr id="1" name=""/>
        <p:cNvGrpSpPr/>
        <p:nvPr/>
      </p:nvGrpSpPr>
      <p:grpSpPr>
        <a:xfrm>
          <a:off x="0" y="0"/>
          <a:ext cx="0" cy="0"/>
          <a:chOff x="0" y="0"/>
          <a:chExt cx="0" cy="0"/>
        </a:xfrm>
      </p:grpSpPr>
      <p:sp>
        <p:nvSpPr>
          <p:cNvPr id="2" name="Text 0"/>
          <p:cNvSpPr/>
          <p:nvPr/>
        </p:nvSpPr>
        <p:spPr>
          <a:xfrm>
            <a:off x="566928" y="502920"/>
            <a:ext cx="8229600" cy="274320"/>
          </a:xfrm>
          <a:prstGeom prst="rect">
            <a:avLst/>
          </a:prstGeom>
          <a:noFill/>
          <a:ln/>
        </p:spPr>
        <p:txBody>
          <a:bodyPr wrap="square" rtlCol="0" anchor="ctr"/>
          <a:lstStyle/>
          <a:p>
            <a:pPr indent="0" marL="0">
              <a:buNone/>
            </a:pPr>
            <a:r>
              <a:rPr lang="en-US" sz="1200" b="1" spc="200" kern="0" dirty="0">
                <a:solidFill>
                  <a:srgbClr val="B4AAFA"/>
                </a:solidFill>
                <a:latin typeface="Arial" pitchFamily="34" charset="0"/>
                <a:ea typeface="Arial" pitchFamily="34" charset="-122"/>
                <a:cs typeface="Arial" pitchFamily="34" charset="-120"/>
              </a:rPr>
              <a:t>MARCO NORMATIVO</a:t>
            </a:r>
            <a:endParaRPr lang="en-US" sz="1200" dirty="0"/>
          </a:p>
        </p:txBody>
      </p:sp>
      <p:sp>
        <p:nvSpPr>
          <p:cNvPr id="3" name="Text 1"/>
          <p:cNvSpPr/>
          <p:nvPr/>
        </p:nvSpPr>
        <p:spPr>
          <a:xfrm>
            <a:off x="566928" y="786384"/>
            <a:ext cx="9509760" cy="822960"/>
          </a:xfrm>
          <a:prstGeom prst="rect">
            <a:avLst/>
          </a:prstGeom>
          <a:noFill/>
          <a:ln/>
        </p:spPr>
        <p:txBody>
          <a:bodyPr wrap="square" rtlCol="0" anchor="ctr"/>
          <a:lstStyle/>
          <a:p>
            <a:pPr indent="0" marL="0">
              <a:buNone/>
            </a:pPr>
            <a:r>
              <a:rPr lang="en-US" sz="2600" b="1" dirty="0">
                <a:solidFill>
                  <a:srgbClr val="FFFFFF"/>
                </a:solidFill>
                <a:latin typeface="Arial" pitchFamily="34" charset="0"/>
                <a:ea typeface="Arial" pitchFamily="34" charset="-122"/>
                <a:cs typeface="Arial" pitchFamily="34" charset="-120"/>
              </a:rPr>
              <a:t>Alineación con la Ley 21.180</a:t>
            </a:r>
            <a:endParaRPr lang="en-US" sz="2600" dirty="0"/>
          </a:p>
        </p:txBody>
      </p:sp>
      <p:sp>
        <p:nvSpPr>
          <p:cNvPr id="4" name="Text 2"/>
          <p:cNvSpPr/>
          <p:nvPr/>
        </p:nvSpPr>
        <p:spPr>
          <a:xfrm>
            <a:off x="566928" y="1700784"/>
            <a:ext cx="9555480" cy="777240"/>
          </a:xfrm>
          <a:prstGeom prst="rect">
            <a:avLst/>
          </a:prstGeom>
          <a:noFill/>
          <a:ln/>
        </p:spPr>
        <p:txBody>
          <a:bodyPr wrap="square" rtlCol="0" anchor="ctr"/>
          <a:lstStyle/>
          <a:p>
            <a:pPr indent="0" marL="0">
              <a:buNone/>
            </a:pPr>
            <a:r>
              <a:rPr lang="en-US" sz="1300" dirty="0">
                <a:solidFill>
                  <a:srgbClr val="8A8F98"/>
                </a:solidFill>
                <a:latin typeface="Arial" pitchFamily="34" charset="0"/>
                <a:ea typeface="Arial" pitchFamily="34" charset="-122"/>
                <a:cs typeface="Arial" pitchFamily="34" charset="-120"/>
              </a:rPr>
              <a:t>Ley de Transformación Digital del Estado (Art. 16 bis). Las licencias Claude Pro potencian al equipo de CONSEJO FISCAL AUTONOMO para operar bajo los principios que la ley establece en la tramitación electrónica de los procedimientos administrativos.</a:t>
            </a:r>
            <a:endParaRPr lang="en-US" sz="1300" dirty="0"/>
          </a:p>
        </p:txBody>
      </p:sp>
      <p:sp>
        <p:nvSpPr>
          <p:cNvPr id="5" name="Shape 3"/>
          <p:cNvSpPr/>
          <p:nvPr/>
        </p:nvSpPr>
        <p:spPr>
          <a:xfrm>
            <a:off x="566928" y="2487168"/>
            <a:ext cx="4626864" cy="1783080"/>
          </a:xfrm>
          <a:prstGeom prst="roundRect">
            <a:avLst>
              <a:gd name="adj" fmla="val 3077"/>
            </a:avLst>
          </a:prstGeom>
          <a:solidFill>
            <a:srgbClr val="161527"/>
          </a:solidFill>
          <a:ln/>
        </p:spPr>
      </p:sp>
      <p:sp>
        <p:nvSpPr>
          <p:cNvPr id="6" name="Shape 4"/>
          <p:cNvSpPr/>
          <p:nvPr/>
        </p:nvSpPr>
        <p:spPr>
          <a:xfrm>
            <a:off x="859536" y="2761488"/>
            <a:ext cx="402336" cy="402336"/>
          </a:xfrm>
          <a:prstGeom prst="ellipse">
            <a:avLst/>
          </a:prstGeom>
          <a:solidFill>
            <a:srgbClr val="786CF0"/>
          </a:solidFill>
          <a:ln/>
        </p:spPr>
      </p:sp>
      <p:sp>
        <p:nvSpPr>
          <p:cNvPr id="7" name="Text 5"/>
          <p:cNvSpPr/>
          <p:nvPr/>
        </p:nvSpPr>
        <p:spPr>
          <a:xfrm>
            <a:off x="859536" y="2761488"/>
            <a:ext cx="402336" cy="402336"/>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a:t>
            </a:r>
            <a:endParaRPr lang="en-US" sz="1600" dirty="0"/>
          </a:p>
        </p:txBody>
      </p:sp>
      <p:sp>
        <p:nvSpPr>
          <p:cNvPr id="8" name="Text 6"/>
          <p:cNvSpPr/>
          <p:nvPr/>
        </p:nvSpPr>
        <p:spPr>
          <a:xfrm>
            <a:off x="859536" y="3273552"/>
            <a:ext cx="4078224" cy="365760"/>
          </a:xfrm>
          <a:prstGeom prst="rect">
            <a:avLst/>
          </a:prstGeom>
          <a:noFill/>
          <a:ln/>
        </p:spPr>
        <p:txBody>
          <a:bodyPr wrap="square" rtlCol="0" anchor="ctr"/>
          <a:lstStyle/>
          <a:p>
            <a:pPr indent="0" marL="0">
              <a:buNone/>
            </a:pPr>
            <a:r>
              <a:rPr lang="en-US" sz="1300" b="1" dirty="0">
                <a:solidFill>
                  <a:srgbClr val="FFFFFF"/>
                </a:solidFill>
                <a:latin typeface="Arial" pitchFamily="34" charset="0"/>
                <a:ea typeface="Arial" pitchFamily="34" charset="-122"/>
                <a:cs typeface="Arial" pitchFamily="34" charset="-120"/>
              </a:rPr>
              <a:t>Actualización</a:t>
            </a:r>
            <a:endParaRPr lang="en-US" sz="1300" dirty="0"/>
          </a:p>
        </p:txBody>
      </p:sp>
      <p:sp>
        <p:nvSpPr>
          <p:cNvPr id="9" name="Text 7"/>
          <p:cNvSpPr/>
          <p:nvPr/>
        </p:nvSpPr>
        <p:spPr>
          <a:xfrm>
            <a:off x="859536" y="3621024"/>
            <a:ext cx="4078224" cy="548640"/>
          </a:xfrm>
          <a:prstGeom prst="rect">
            <a:avLst/>
          </a:prstGeom>
          <a:noFill/>
          <a:ln/>
        </p:spPr>
        <p:txBody>
          <a:bodyPr wrap="square" rtlCol="0" anchor="ctr"/>
          <a:lstStyle/>
          <a:p>
            <a:pPr indent="0" marL="0">
              <a:buNone/>
            </a:pPr>
            <a:r>
              <a:rPr lang="en-US" sz="1000" dirty="0">
                <a:solidFill>
                  <a:srgbClr val="8A8F98"/>
                </a:solidFill>
                <a:latin typeface="Arial" pitchFamily="34" charset="0"/>
                <a:ea typeface="Arial" pitchFamily="34" charset="-122"/>
                <a:cs typeface="Arial" pitchFamily="34" charset="-120"/>
              </a:rPr>
              <a:t>Claude Pro es tecnología de IA vigente y con soporte activo: evita el uso de plataformas obsoletas y mantiene al equipo con herramientas de última generación.</a:t>
            </a:r>
            <a:endParaRPr lang="en-US" sz="1000" dirty="0"/>
          </a:p>
        </p:txBody>
      </p:sp>
      <p:sp>
        <p:nvSpPr>
          <p:cNvPr id="10" name="Shape 8"/>
          <p:cNvSpPr/>
          <p:nvPr/>
        </p:nvSpPr>
        <p:spPr>
          <a:xfrm>
            <a:off x="5422392" y="2487168"/>
            <a:ext cx="4626864" cy="1783080"/>
          </a:xfrm>
          <a:prstGeom prst="roundRect">
            <a:avLst>
              <a:gd name="adj" fmla="val 3077"/>
            </a:avLst>
          </a:prstGeom>
          <a:solidFill>
            <a:srgbClr val="161527"/>
          </a:solidFill>
          <a:ln/>
        </p:spPr>
      </p:sp>
      <p:sp>
        <p:nvSpPr>
          <p:cNvPr id="11" name="Shape 9"/>
          <p:cNvSpPr/>
          <p:nvPr/>
        </p:nvSpPr>
        <p:spPr>
          <a:xfrm>
            <a:off x="5715000" y="2761488"/>
            <a:ext cx="402336" cy="402336"/>
          </a:xfrm>
          <a:prstGeom prst="ellipse">
            <a:avLst/>
          </a:prstGeom>
          <a:solidFill>
            <a:srgbClr val="786CF0"/>
          </a:solidFill>
          <a:ln/>
        </p:spPr>
      </p:sp>
      <p:sp>
        <p:nvSpPr>
          <p:cNvPr id="12" name="Text 10"/>
          <p:cNvSpPr/>
          <p:nvPr/>
        </p:nvSpPr>
        <p:spPr>
          <a:xfrm>
            <a:off x="5715000" y="2761488"/>
            <a:ext cx="402336" cy="402336"/>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a:t>
            </a:r>
            <a:endParaRPr lang="en-US" sz="1600" dirty="0"/>
          </a:p>
        </p:txBody>
      </p:sp>
      <p:sp>
        <p:nvSpPr>
          <p:cNvPr id="13" name="Text 11"/>
          <p:cNvSpPr/>
          <p:nvPr/>
        </p:nvSpPr>
        <p:spPr>
          <a:xfrm>
            <a:off x="5715000" y="3273552"/>
            <a:ext cx="4078224" cy="365760"/>
          </a:xfrm>
          <a:prstGeom prst="rect">
            <a:avLst/>
          </a:prstGeom>
          <a:noFill/>
          <a:ln/>
        </p:spPr>
        <p:txBody>
          <a:bodyPr wrap="square" rtlCol="0" anchor="ctr"/>
          <a:lstStyle/>
          <a:p>
            <a:pPr indent="0" marL="0">
              <a:buNone/>
            </a:pPr>
            <a:r>
              <a:rPr lang="en-US" sz="1300" b="1" dirty="0">
                <a:solidFill>
                  <a:srgbClr val="FFFFFF"/>
                </a:solidFill>
                <a:latin typeface="Arial" pitchFamily="34" charset="0"/>
                <a:ea typeface="Arial" pitchFamily="34" charset="-122"/>
                <a:cs typeface="Arial" pitchFamily="34" charset="-120"/>
              </a:rPr>
              <a:t>Escrituración electrónica</a:t>
            </a:r>
            <a:endParaRPr lang="en-US" sz="1300" dirty="0"/>
          </a:p>
        </p:txBody>
      </p:sp>
      <p:sp>
        <p:nvSpPr>
          <p:cNvPr id="14" name="Text 12"/>
          <p:cNvSpPr/>
          <p:nvPr/>
        </p:nvSpPr>
        <p:spPr>
          <a:xfrm>
            <a:off x="5715000" y="3621024"/>
            <a:ext cx="4078224" cy="548640"/>
          </a:xfrm>
          <a:prstGeom prst="rect">
            <a:avLst/>
          </a:prstGeom>
          <a:noFill/>
          <a:ln/>
        </p:spPr>
        <p:txBody>
          <a:bodyPr wrap="square" rtlCol="0" anchor="ctr"/>
          <a:lstStyle/>
          <a:p>
            <a:pPr indent="0" marL="0">
              <a:buNone/>
            </a:pPr>
            <a:r>
              <a:rPr lang="en-US" sz="1000" dirty="0">
                <a:solidFill>
                  <a:srgbClr val="8A8F98"/>
                </a:solidFill>
                <a:latin typeface="Arial" pitchFamily="34" charset="0"/>
                <a:ea typeface="Arial" pitchFamily="34" charset="-122"/>
                <a:cs typeface="Arial" pitchFamily="34" charset="-120"/>
              </a:rPr>
              <a:t>Acelera la redacción, revisión y estandarización de actos y documentos administrativos expresados por medios electrónicos.</a:t>
            </a:r>
            <a:endParaRPr lang="en-US" sz="1000" dirty="0"/>
          </a:p>
        </p:txBody>
      </p:sp>
      <p:sp>
        <p:nvSpPr>
          <p:cNvPr id="15" name="Shape 13"/>
          <p:cNvSpPr/>
          <p:nvPr/>
        </p:nvSpPr>
        <p:spPr>
          <a:xfrm>
            <a:off x="566928" y="4453128"/>
            <a:ext cx="4626864" cy="1783080"/>
          </a:xfrm>
          <a:prstGeom prst="roundRect">
            <a:avLst>
              <a:gd name="adj" fmla="val 3077"/>
            </a:avLst>
          </a:prstGeom>
          <a:solidFill>
            <a:srgbClr val="161527"/>
          </a:solidFill>
          <a:ln/>
        </p:spPr>
      </p:sp>
      <p:sp>
        <p:nvSpPr>
          <p:cNvPr id="16" name="Shape 14"/>
          <p:cNvSpPr/>
          <p:nvPr/>
        </p:nvSpPr>
        <p:spPr>
          <a:xfrm>
            <a:off x="859536" y="4727448"/>
            <a:ext cx="402336" cy="402336"/>
          </a:xfrm>
          <a:prstGeom prst="ellipse">
            <a:avLst/>
          </a:prstGeom>
          <a:solidFill>
            <a:srgbClr val="786CF0"/>
          </a:solidFill>
          <a:ln/>
        </p:spPr>
      </p:sp>
      <p:sp>
        <p:nvSpPr>
          <p:cNvPr id="17" name="Text 15"/>
          <p:cNvSpPr/>
          <p:nvPr/>
        </p:nvSpPr>
        <p:spPr>
          <a:xfrm>
            <a:off x="859536" y="4727448"/>
            <a:ext cx="402336" cy="402336"/>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a:t>
            </a:r>
            <a:endParaRPr lang="en-US" sz="1600" dirty="0"/>
          </a:p>
        </p:txBody>
      </p:sp>
      <p:sp>
        <p:nvSpPr>
          <p:cNvPr id="18" name="Text 16"/>
          <p:cNvSpPr/>
          <p:nvPr/>
        </p:nvSpPr>
        <p:spPr>
          <a:xfrm>
            <a:off x="859536" y="5239512"/>
            <a:ext cx="4078224" cy="365760"/>
          </a:xfrm>
          <a:prstGeom prst="rect">
            <a:avLst/>
          </a:prstGeom>
          <a:noFill/>
          <a:ln/>
        </p:spPr>
        <p:txBody>
          <a:bodyPr wrap="square" rtlCol="0" anchor="ctr"/>
          <a:lstStyle/>
          <a:p>
            <a:pPr indent="0" marL="0">
              <a:buNone/>
            </a:pPr>
            <a:r>
              <a:rPr lang="en-US" sz="1300" b="1" dirty="0">
                <a:solidFill>
                  <a:srgbClr val="FFFFFF"/>
                </a:solidFill>
                <a:latin typeface="Arial" pitchFamily="34" charset="0"/>
                <a:ea typeface="Arial" pitchFamily="34" charset="-122"/>
                <a:cs typeface="Arial" pitchFamily="34" charset="-120"/>
              </a:rPr>
              <a:t>Fidelidad del expediente</a:t>
            </a:r>
            <a:endParaRPr lang="en-US" sz="1300" dirty="0"/>
          </a:p>
        </p:txBody>
      </p:sp>
      <p:sp>
        <p:nvSpPr>
          <p:cNvPr id="19" name="Text 17"/>
          <p:cNvSpPr/>
          <p:nvPr/>
        </p:nvSpPr>
        <p:spPr>
          <a:xfrm>
            <a:off x="859536" y="5586984"/>
            <a:ext cx="4078224" cy="548640"/>
          </a:xfrm>
          <a:prstGeom prst="rect">
            <a:avLst/>
          </a:prstGeom>
          <a:noFill/>
          <a:ln/>
        </p:spPr>
        <p:txBody>
          <a:bodyPr wrap="square" rtlCol="0" anchor="ctr"/>
          <a:lstStyle/>
          <a:p>
            <a:pPr indent="0" marL="0">
              <a:buNone/>
            </a:pPr>
            <a:r>
              <a:rPr lang="en-US" sz="1000" dirty="0">
                <a:solidFill>
                  <a:srgbClr val="8A8F98"/>
                </a:solidFill>
                <a:latin typeface="Arial" pitchFamily="34" charset="0"/>
                <a:ea typeface="Arial" pitchFamily="34" charset="-122"/>
                <a:cs typeface="Arial" pitchFamily="34" charset="-120"/>
              </a:rPr>
              <a:t>Apoya el análisis, resumen y ordenamiento de la documentación, ayudando a mantener registros íntegros y trazables.</a:t>
            </a:r>
            <a:endParaRPr lang="en-US" sz="1000" dirty="0"/>
          </a:p>
        </p:txBody>
      </p:sp>
      <p:sp>
        <p:nvSpPr>
          <p:cNvPr id="20" name="Shape 18"/>
          <p:cNvSpPr/>
          <p:nvPr/>
        </p:nvSpPr>
        <p:spPr>
          <a:xfrm>
            <a:off x="5422392" y="4453128"/>
            <a:ext cx="4626864" cy="1783080"/>
          </a:xfrm>
          <a:prstGeom prst="roundRect">
            <a:avLst>
              <a:gd name="adj" fmla="val 3077"/>
            </a:avLst>
          </a:prstGeom>
          <a:solidFill>
            <a:srgbClr val="161527"/>
          </a:solidFill>
          <a:ln/>
        </p:spPr>
      </p:sp>
      <p:sp>
        <p:nvSpPr>
          <p:cNvPr id="21" name="Shape 19"/>
          <p:cNvSpPr/>
          <p:nvPr/>
        </p:nvSpPr>
        <p:spPr>
          <a:xfrm>
            <a:off x="5715000" y="4727448"/>
            <a:ext cx="402336" cy="402336"/>
          </a:xfrm>
          <a:prstGeom prst="ellipse">
            <a:avLst/>
          </a:prstGeom>
          <a:solidFill>
            <a:srgbClr val="786CF0"/>
          </a:solidFill>
          <a:ln/>
        </p:spPr>
      </p:sp>
      <p:sp>
        <p:nvSpPr>
          <p:cNvPr id="22" name="Text 20"/>
          <p:cNvSpPr/>
          <p:nvPr/>
        </p:nvSpPr>
        <p:spPr>
          <a:xfrm>
            <a:off x="5715000" y="4727448"/>
            <a:ext cx="402336" cy="402336"/>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a:t>
            </a:r>
            <a:endParaRPr lang="en-US" sz="1600" dirty="0"/>
          </a:p>
        </p:txBody>
      </p:sp>
      <p:sp>
        <p:nvSpPr>
          <p:cNvPr id="23" name="Text 21"/>
          <p:cNvSpPr/>
          <p:nvPr/>
        </p:nvSpPr>
        <p:spPr>
          <a:xfrm>
            <a:off x="5715000" y="5239512"/>
            <a:ext cx="4078224" cy="365760"/>
          </a:xfrm>
          <a:prstGeom prst="rect">
            <a:avLst/>
          </a:prstGeom>
          <a:noFill/>
          <a:ln/>
        </p:spPr>
        <p:txBody>
          <a:bodyPr wrap="square" rtlCol="0" anchor="ctr"/>
          <a:lstStyle/>
          <a:p>
            <a:pPr indent="0" marL="0">
              <a:buNone/>
            </a:pPr>
            <a:r>
              <a:rPr lang="en-US" sz="1300" b="1" dirty="0">
                <a:solidFill>
                  <a:srgbClr val="FFFFFF"/>
                </a:solidFill>
                <a:latin typeface="Arial" pitchFamily="34" charset="0"/>
                <a:ea typeface="Arial" pitchFamily="34" charset="-122"/>
                <a:cs typeface="Arial" pitchFamily="34" charset="-120"/>
              </a:rPr>
              <a:t>Eficiencia y cooperación</a:t>
            </a:r>
            <a:endParaRPr lang="en-US" sz="1300" dirty="0"/>
          </a:p>
        </p:txBody>
      </p:sp>
      <p:sp>
        <p:nvSpPr>
          <p:cNvPr id="24" name="Text 22"/>
          <p:cNvSpPr/>
          <p:nvPr/>
        </p:nvSpPr>
        <p:spPr>
          <a:xfrm>
            <a:off x="5715000" y="5586984"/>
            <a:ext cx="4078224" cy="548640"/>
          </a:xfrm>
          <a:prstGeom prst="rect">
            <a:avLst/>
          </a:prstGeom>
          <a:noFill/>
          <a:ln/>
        </p:spPr>
        <p:txBody>
          <a:bodyPr wrap="square" rtlCol="0" anchor="ctr"/>
          <a:lstStyle/>
          <a:p>
            <a:pPr indent="0" marL="0">
              <a:buNone/>
            </a:pPr>
            <a:r>
              <a:rPr lang="en-US" sz="1000" dirty="0">
                <a:solidFill>
                  <a:srgbClr val="8A8F98"/>
                </a:solidFill>
                <a:latin typeface="Arial" pitchFamily="34" charset="0"/>
                <a:ea typeface="Arial" pitchFamily="34" charset="-122"/>
                <a:cs typeface="Arial" pitchFamily="34" charset="-120"/>
              </a:rPr>
              <a:t>Automatiza tareas repetitivas y facilita el trabajo colaborativo entre equipos, liberando tiempo para modernizar los servicios.</a:t>
            </a:r>
            <a:endParaRPr lang="en-US" sz="1000" dirty="0"/>
          </a:p>
        </p:txBody>
      </p:sp>
      <p:sp>
        <p:nvSpPr>
          <p:cNvPr id="25" name="Text 23"/>
          <p:cNvSpPr/>
          <p:nvPr/>
        </p:nvSpPr>
        <p:spPr>
          <a:xfrm>
            <a:off x="566928" y="6858000"/>
            <a:ext cx="9555480" cy="457200"/>
          </a:xfrm>
          <a:prstGeom prst="rect">
            <a:avLst/>
          </a:prstGeom>
          <a:noFill/>
          <a:ln/>
        </p:spPr>
        <p:txBody>
          <a:bodyPr wrap="square" rtlCol="0" anchor="ctr"/>
          <a:lstStyle/>
          <a:p>
            <a:pPr indent="0" marL="0">
              <a:buNone/>
            </a:pPr>
            <a:r>
              <a:rPr lang="en-US" sz="900" i="1" dirty="0">
                <a:solidFill>
                  <a:srgbClr val="8A8F98"/>
                </a:solidFill>
                <a:latin typeface="Arial" pitchFamily="34" charset="0"/>
                <a:ea typeface="Arial" pitchFamily="34" charset="-122"/>
                <a:cs typeface="Arial" pitchFamily="34" charset="-120"/>
              </a:rPr>
              <a:t>Claude Pro es una herramienta de apoyo a la gestión; el cumplimiento normativo depende de los procesos, firmas y plataformas oficiales de CONSEJO FISCAL AUTONOMO. Ley 21.180 — modifica la Ley 19.880.</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E0E17"/>
        </a:solidFill>
      </p:bgPr>
    </p:bg>
    <p:spTree>
      <p:nvGrpSpPr>
        <p:cNvPr id="1" name=""/>
        <p:cNvGrpSpPr/>
        <p:nvPr/>
      </p:nvGrpSpPr>
      <p:grpSpPr>
        <a:xfrm>
          <a:off x="0" y="0"/>
          <a:ext cx="0" cy="0"/>
          <a:chOff x="0" y="0"/>
          <a:chExt cx="0" cy="0"/>
        </a:xfrm>
      </p:grpSpPr>
      <p:sp>
        <p:nvSpPr>
          <p:cNvPr id="2" name="Shape 0"/>
          <p:cNvSpPr/>
          <p:nvPr/>
        </p:nvSpPr>
        <p:spPr>
          <a:xfrm>
            <a:off x="7671816" y="320040"/>
            <a:ext cx="2651760" cy="457200"/>
          </a:xfrm>
          <a:prstGeom prst="roundRect">
            <a:avLst>
              <a:gd name="adj" fmla="val 12000"/>
            </a:avLst>
          </a:prstGeom>
          <a:solidFill>
            <a:srgbClr val="FF4D4D"/>
          </a:solidFill>
          <a:ln/>
        </p:spPr>
      </p:sp>
      <p:sp>
        <p:nvSpPr>
          <p:cNvPr id="3" name="Text 1"/>
          <p:cNvSpPr/>
          <p:nvPr/>
        </p:nvSpPr>
        <p:spPr>
          <a:xfrm>
            <a:off x="7671816" y="320040"/>
            <a:ext cx="2651760" cy="457200"/>
          </a:xfrm>
          <a:prstGeom prst="rect">
            <a:avLst/>
          </a:prstGeom>
          <a:noFill/>
          <a:ln/>
        </p:spPr>
        <p:txBody>
          <a:bodyPr wrap="square"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BORRADOR — identidad KeepSync sin confirmar</a:t>
            </a:r>
            <a:endParaRPr lang="en-US" sz="900" dirty="0"/>
          </a:p>
        </p:txBody>
      </p:sp>
      <p:sp>
        <p:nvSpPr>
          <p:cNvPr id="4" name="Text 2"/>
          <p:cNvSpPr/>
          <p:nvPr/>
        </p:nvSpPr>
        <p:spPr>
          <a:xfrm>
            <a:off x="640080" y="502920"/>
            <a:ext cx="9418320" cy="640080"/>
          </a:xfrm>
          <a:prstGeom prst="rect">
            <a:avLst/>
          </a:prstGeom>
          <a:noFill/>
          <a:ln/>
        </p:spPr>
        <p:txBody>
          <a:bodyPr wrap="square" rtlCol="0" anchor="ctr"/>
          <a:lstStyle/>
          <a:p>
            <a:pPr indent="0" marL="0">
              <a:buNone/>
            </a:pPr>
            <a:r>
              <a:rPr lang="en-US" sz="3000" b="1" dirty="0">
                <a:solidFill>
                  <a:srgbClr val="FFFFFF"/>
                </a:solidFill>
                <a:latin typeface="Arial" pitchFamily="34" charset="0"/>
                <a:ea typeface="Arial" pitchFamily="34" charset="-122"/>
                <a:cs typeface="Arial" pitchFamily="34" charset="-120"/>
              </a:rPr>
              <a:t>Cotización formal</a:t>
            </a:r>
            <a:endParaRPr lang="en-US" sz="3000" dirty="0"/>
          </a:p>
        </p:txBody>
      </p:sp>
      <p:sp>
        <p:nvSpPr>
          <p:cNvPr id="5" name="Text 3"/>
          <p:cNvSpPr/>
          <p:nvPr/>
        </p:nvSpPr>
        <p:spPr>
          <a:xfrm>
            <a:off x="640080" y="1170432"/>
            <a:ext cx="9418320" cy="457200"/>
          </a:xfrm>
          <a:prstGeom prst="rect">
            <a:avLst/>
          </a:prstGeom>
          <a:noFill/>
          <a:ln/>
        </p:spPr>
        <p:txBody>
          <a:bodyPr wrap="square" rtlCol="0" anchor="ctr"/>
          <a:lstStyle/>
          <a:p>
            <a:pPr indent="0" marL="0">
              <a:buNone/>
            </a:pPr>
            <a:r>
              <a:rPr lang="en-US" sz="1300" dirty="0">
                <a:solidFill>
                  <a:srgbClr val="8A8F98"/>
                </a:solidFill>
                <a:latin typeface="Arial" pitchFamily="34" charset="0"/>
                <a:ea typeface="Arial" pitchFamily="34" charset="-122"/>
                <a:cs typeface="Arial" pitchFamily="34" charset="-120"/>
              </a:rPr>
              <a:t>Valores en pesos chilenos (CLP), impuestos incluidos. Licencias Claude Pro por 12 meses, gestión y soporte de KeepSync.</a:t>
            </a:r>
            <a:endParaRPr lang="en-US" sz="13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640080" y="1828800"/>
          <a:ext cx="9418320" cy="914400"/>
        </p:xfrm>
        <a:graphic>
          <a:graphicData uri="http://schemas.openxmlformats.org/drawingml/2006/table">
            <a:tbl>
              <a:tblPr/>
              <a:tblGrid>
                <a:gridCol w="3840480"/>
                <a:gridCol w="822960"/>
                <a:gridCol w="822960"/>
                <a:gridCol w="1965960"/>
                <a:gridCol w="1965960"/>
              </a:tblGrid>
              <a:tr h="457200">
                <a:tc>
                  <a:txBody>
                    <a:bodyPr/>
                    <a:lstStyle/>
                    <a:p>
                      <a:pPr indent="0" marL="0">
                        <a:buNone/>
                      </a:pPr>
                      <a:r>
                        <a:rPr lang="en-US" sz="1100" b="1" dirty="0">
                          <a:solidFill>
                            <a:srgbClr val="FFFFFF"/>
                          </a:solidFill>
                          <a:latin typeface="Arial" pitchFamily="34" charset="0"/>
                          <a:ea typeface="Arial" pitchFamily="34" charset="-122"/>
                          <a:cs typeface="Arial" pitchFamily="34" charset="-120"/>
                        </a:rPr>
                        <a:t>Descripción</a:t>
                      </a:r>
                      <a:endParaRPr lang="en-US" sz="1100" dirty="0">
                        <a:latin typeface="Arial" charset="0"/>
                        <a:ea typeface="Arial" charset="0"/>
                        <a:cs typeface="Arial" charset="0"/>
                      </a:endParaRPr>
                    </a:p>
                  </a:txBody>
                  <a:tcPr marL="91440" marR="91440" marT="45720" marB="45720">
                    <a:lnL w="25400" cap="flat" cmpd="sng" algn="ctr">
                      <a:solidFill>
                        <a:srgbClr val="0E0E17"/>
                      </a:solidFill>
                      <a:prstDash val="solid"/>
                      <a:round/>
                      <a:headEnd type="none" w="med" len="med"/>
                      <a:tailEnd type="none" w="med" len="med"/>
                    </a:lnL>
                    <a:lnR w="25400" cap="flat" cmpd="sng" algn="ctr">
                      <a:solidFill>
                        <a:srgbClr val="0E0E17"/>
                      </a:solidFill>
                      <a:prstDash val="solid"/>
                      <a:round/>
                      <a:headEnd type="none" w="med" len="med"/>
                      <a:tailEnd type="none" w="med" len="med"/>
                    </a:lnR>
                    <a:lnT w="25400" cap="flat" cmpd="sng" algn="ctr">
                      <a:solidFill>
                        <a:srgbClr val="0E0E17"/>
                      </a:solidFill>
                      <a:prstDash val="solid"/>
                      <a:round/>
                      <a:headEnd type="none" w="med" len="med"/>
                      <a:tailEnd type="none" w="med" len="med"/>
                    </a:lnT>
                    <a:lnB w="25400" cap="flat" cmpd="sng" algn="ctr">
                      <a:solidFill>
                        <a:srgbClr val="0E0E17"/>
                      </a:solidFill>
                      <a:prstDash val="solid"/>
                      <a:round/>
                      <a:headEnd type="none" w="med" len="med"/>
                      <a:tailEnd type="none" w="med" len="med"/>
                    </a:lnB>
                    <a:solidFill>
                      <a:srgbClr val="24243A"/>
                    </a:solidFill>
                  </a:tcPr>
                </a:tc>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Cant.</a:t>
                      </a:r>
                      <a:endParaRPr lang="en-US" sz="1100" dirty="0">
                        <a:latin typeface="Arial" charset="0"/>
                        <a:ea typeface="Arial" charset="0"/>
                        <a:cs typeface="Arial" charset="0"/>
                      </a:endParaRPr>
                    </a:p>
                  </a:txBody>
                  <a:tcPr marL="91440" marR="91440" marT="45720" marB="45720">
                    <a:lnL w="25400" cap="flat" cmpd="sng" algn="ctr">
                      <a:solidFill>
                        <a:srgbClr val="0E0E17"/>
                      </a:solidFill>
                      <a:prstDash val="solid"/>
                      <a:round/>
                      <a:headEnd type="none" w="med" len="med"/>
                      <a:tailEnd type="none" w="med" len="med"/>
                    </a:lnL>
                    <a:lnR w="25400" cap="flat" cmpd="sng" algn="ctr">
                      <a:solidFill>
                        <a:srgbClr val="0E0E17"/>
                      </a:solidFill>
                      <a:prstDash val="solid"/>
                      <a:round/>
                      <a:headEnd type="none" w="med" len="med"/>
                      <a:tailEnd type="none" w="med" len="med"/>
                    </a:lnR>
                    <a:lnT w="25400" cap="flat" cmpd="sng" algn="ctr">
                      <a:solidFill>
                        <a:srgbClr val="0E0E17"/>
                      </a:solidFill>
                      <a:prstDash val="solid"/>
                      <a:round/>
                      <a:headEnd type="none" w="med" len="med"/>
                      <a:tailEnd type="none" w="med" len="med"/>
                    </a:lnT>
                    <a:lnB w="25400" cap="flat" cmpd="sng" algn="ctr">
                      <a:solidFill>
                        <a:srgbClr val="0E0E17"/>
                      </a:solidFill>
                      <a:prstDash val="solid"/>
                      <a:round/>
                      <a:headEnd type="none" w="med" len="med"/>
                      <a:tailEnd type="none" w="med" len="med"/>
                    </a:lnB>
                    <a:solidFill>
                      <a:srgbClr val="24243A"/>
                    </a:solidFill>
                  </a:tcPr>
                </a:tc>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Meses</a:t>
                      </a:r>
                      <a:endParaRPr lang="en-US" sz="1100" dirty="0">
                        <a:latin typeface="Arial" charset="0"/>
                        <a:ea typeface="Arial" charset="0"/>
                        <a:cs typeface="Arial" charset="0"/>
                      </a:endParaRPr>
                    </a:p>
                  </a:txBody>
                  <a:tcPr marL="91440" marR="91440" marT="45720" marB="45720">
                    <a:lnL w="25400" cap="flat" cmpd="sng" algn="ctr">
                      <a:solidFill>
                        <a:srgbClr val="0E0E17"/>
                      </a:solidFill>
                      <a:prstDash val="solid"/>
                      <a:round/>
                      <a:headEnd type="none" w="med" len="med"/>
                      <a:tailEnd type="none" w="med" len="med"/>
                    </a:lnL>
                    <a:lnR w="25400" cap="flat" cmpd="sng" algn="ctr">
                      <a:solidFill>
                        <a:srgbClr val="0E0E17"/>
                      </a:solidFill>
                      <a:prstDash val="solid"/>
                      <a:round/>
                      <a:headEnd type="none" w="med" len="med"/>
                      <a:tailEnd type="none" w="med" len="med"/>
                    </a:lnR>
                    <a:lnT w="25400" cap="flat" cmpd="sng" algn="ctr">
                      <a:solidFill>
                        <a:srgbClr val="0E0E17"/>
                      </a:solidFill>
                      <a:prstDash val="solid"/>
                      <a:round/>
                      <a:headEnd type="none" w="med" len="med"/>
                      <a:tailEnd type="none" w="med" len="med"/>
                    </a:lnT>
                    <a:lnB w="25400" cap="flat" cmpd="sng" algn="ctr">
                      <a:solidFill>
                        <a:srgbClr val="0E0E17"/>
                      </a:solidFill>
                      <a:prstDash val="solid"/>
                      <a:round/>
                      <a:headEnd type="none" w="med" len="med"/>
                      <a:tailEnd type="none" w="med" len="med"/>
                    </a:lnB>
                    <a:solidFill>
                      <a:srgbClr val="24243A"/>
                    </a:solidFill>
                  </a:tcPr>
                </a:tc>
                <a:tc>
                  <a:txBody>
                    <a:bodyPr/>
                    <a:lstStyle/>
                    <a:p>
                      <a:pPr algn="r" indent="0" marL="0">
                        <a:buNone/>
                      </a:pPr>
                      <a:r>
                        <a:rPr lang="en-US" sz="1100" b="1" dirty="0">
                          <a:solidFill>
                            <a:srgbClr val="FFFFFF"/>
                          </a:solidFill>
                          <a:latin typeface="Arial" pitchFamily="34" charset="0"/>
                          <a:ea typeface="Arial" pitchFamily="34" charset="-122"/>
                          <a:cs typeface="Arial" pitchFamily="34" charset="-120"/>
                        </a:rPr>
                        <a:t>Valor unit. mensual</a:t>
                      </a:r>
                      <a:endParaRPr lang="en-US" sz="1100" dirty="0">
                        <a:latin typeface="Arial" charset="0"/>
                        <a:ea typeface="Arial" charset="0"/>
                        <a:cs typeface="Arial" charset="0"/>
                      </a:endParaRPr>
                    </a:p>
                  </a:txBody>
                  <a:tcPr marL="91440" marR="91440" marT="45720" marB="45720">
                    <a:lnL w="25400" cap="flat" cmpd="sng" algn="ctr">
                      <a:solidFill>
                        <a:srgbClr val="0E0E17"/>
                      </a:solidFill>
                      <a:prstDash val="solid"/>
                      <a:round/>
                      <a:headEnd type="none" w="med" len="med"/>
                      <a:tailEnd type="none" w="med" len="med"/>
                    </a:lnL>
                    <a:lnR w="25400" cap="flat" cmpd="sng" algn="ctr">
                      <a:solidFill>
                        <a:srgbClr val="0E0E17"/>
                      </a:solidFill>
                      <a:prstDash val="solid"/>
                      <a:round/>
                      <a:headEnd type="none" w="med" len="med"/>
                      <a:tailEnd type="none" w="med" len="med"/>
                    </a:lnR>
                    <a:lnT w="25400" cap="flat" cmpd="sng" algn="ctr">
                      <a:solidFill>
                        <a:srgbClr val="0E0E17"/>
                      </a:solidFill>
                      <a:prstDash val="solid"/>
                      <a:round/>
                      <a:headEnd type="none" w="med" len="med"/>
                      <a:tailEnd type="none" w="med" len="med"/>
                    </a:lnT>
                    <a:lnB w="25400" cap="flat" cmpd="sng" algn="ctr">
                      <a:solidFill>
                        <a:srgbClr val="0E0E17"/>
                      </a:solidFill>
                      <a:prstDash val="solid"/>
                      <a:round/>
                      <a:headEnd type="none" w="med" len="med"/>
                      <a:tailEnd type="none" w="med" len="med"/>
                    </a:lnB>
                    <a:solidFill>
                      <a:srgbClr val="24243A"/>
                    </a:solidFill>
                  </a:tcPr>
                </a:tc>
                <a:tc>
                  <a:txBody>
                    <a:bodyPr/>
                    <a:lstStyle/>
                    <a:p>
                      <a:pPr algn="r" indent="0" marL="0">
                        <a:buNone/>
                      </a:pPr>
                      <a:r>
                        <a:rPr lang="en-US" sz="1100" b="1" dirty="0">
                          <a:solidFill>
                            <a:srgbClr val="FFFFFF"/>
                          </a:solidFill>
                          <a:latin typeface="Arial" pitchFamily="34" charset="0"/>
                          <a:ea typeface="Arial" pitchFamily="34" charset="-122"/>
                          <a:cs typeface="Arial" pitchFamily="34" charset="-120"/>
                        </a:rPr>
                        <a:t>Subtotal neto</a:t>
                      </a:r>
                      <a:endParaRPr lang="en-US" sz="1100" dirty="0">
                        <a:latin typeface="Arial" charset="0"/>
                        <a:ea typeface="Arial" charset="0"/>
                        <a:cs typeface="Arial" charset="0"/>
                      </a:endParaRPr>
                    </a:p>
                  </a:txBody>
                  <a:tcPr marL="91440" marR="91440" marT="45720" marB="45720">
                    <a:lnL w="25400" cap="flat" cmpd="sng" algn="ctr">
                      <a:solidFill>
                        <a:srgbClr val="0E0E17"/>
                      </a:solidFill>
                      <a:prstDash val="solid"/>
                      <a:round/>
                      <a:headEnd type="none" w="med" len="med"/>
                      <a:tailEnd type="none" w="med" len="med"/>
                    </a:lnL>
                    <a:lnR w="25400" cap="flat" cmpd="sng" algn="ctr">
                      <a:solidFill>
                        <a:srgbClr val="0E0E17"/>
                      </a:solidFill>
                      <a:prstDash val="solid"/>
                      <a:round/>
                      <a:headEnd type="none" w="med" len="med"/>
                      <a:tailEnd type="none" w="med" len="med"/>
                    </a:lnR>
                    <a:lnT w="25400" cap="flat" cmpd="sng" algn="ctr">
                      <a:solidFill>
                        <a:srgbClr val="0E0E17"/>
                      </a:solidFill>
                      <a:prstDash val="solid"/>
                      <a:round/>
                      <a:headEnd type="none" w="med" len="med"/>
                      <a:tailEnd type="none" w="med" len="med"/>
                    </a:lnT>
                    <a:lnB w="25400" cap="flat" cmpd="sng" algn="ctr">
                      <a:solidFill>
                        <a:srgbClr val="0E0E17"/>
                      </a:solidFill>
                      <a:prstDash val="solid"/>
                      <a:round/>
                      <a:headEnd type="none" w="med" len="med"/>
                      <a:tailEnd type="none" w="med" len="med"/>
                    </a:lnB>
                    <a:solidFill>
                      <a:srgbClr val="24243A"/>
                    </a:solidFill>
                  </a:tcPr>
                </a:tc>
              </a:tr>
              <a:tr h="457200">
                <a:tc>
                  <a:txBody>
                    <a:bodyPr/>
                    <a:lstStyle/>
                    <a:p>
                      <a:pPr indent="0" marL="0">
                        <a:buNone/>
                      </a:pPr>
                      <a:r>
                        <a:rPr lang="en-US" sz="1100" dirty="0">
                          <a:solidFill>
                            <a:srgbClr val="FFFFFF"/>
                          </a:solidFill>
                          <a:latin typeface="Arial" pitchFamily="34" charset="0"/>
                          <a:ea typeface="Arial" pitchFamily="34" charset="-122"/>
                          <a:cs typeface="Arial" pitchFamily="34" charset="-120"/>
                        </a:rPr>
                        <a:t>Licencia cuenta Claude Pro</a:t>
                      </a:r>
                      <a:endParaRPr lang="en-US" sz="1100" dirty="0">
                        <a:latin typeface="Arial" charset="0"/>
                        <a:ea typeface="Arial" charset="0"/>
                        <a:cs typeface="Arial" charset="0"/>
                      </a:endParaRPr>
                    </a:p>
                  </a:txBody>
                  <a:tcPr marL="91440" marR="91440" marT="45720" marB="45720">
                    <a:lnL w="25400" cap="flat" cmpd="sng" algn="ctr">
                      <a:solidFill>
                        <a:srgbClr val="0E0E17"/>
                      </a:solidFill>
                      <a:prstDash val="solid"/>
                      <a:round/>
                      <a:headEnd type="none" w="med" len="med"/>
                      <a:tailEnd type="none" w="med" len="med"/>
                    </a:lnL>
                    <a:lnR w="25400" cap="flat" cmpd="sng" algn="ctr">
                      <a:solidFill>
                        <a:srgbClr val="0E0E17"/>
                      </a:solidFill>
                      <a:prstDash val="solid"/>
                      <a:round/>
                      <a:headEnd type="none" w="med" len="med"/>
                      <a:tailEnd type="none" w="med" len="med"/>
                    </a:lnR>
                    <a:lnT w="25400" cap="flat" cmpd="sng" algn="ctr">
                      <a:solidFill>
                        <a:srgbClr val="0E0E17"/>
                      </a:solidFill>
                      <a:prstDash val="solid"/>
                      <a:round/>
                      <a:headEnd type="none" w="med" len="med"/>
                      <a:tailEnd type="none" w="med" len="med"/>
                    </a:lnT>
                    <a:lnB w="25400" cap="flat" cmpd="sng" algn="ctr">
                      <a:solidFill>
                        <a:srgbClr val="0E0E17"/>
                      </a:solidFill>
                      <a:prstDash val="solid"/>
                      <a:round/>
                      <a:headEnd type="none" w="med" len="med"/>
                      <a:tailEnd type="none" w="med" len="med"/>
                    </a:lnB>
                    <a:solidFill>
                      <a:srgbClr val="161527"/>
                    </a:solidFill>
                  </a:tcPr>
                </a:tc>
                <a:tc>
                  <a:txBody>
                    <a:bodyPr/>
                    <a:lstStyle/>
                    <a:p>
                      <a:pPr algn="ctr" indent="0" marL="0">
                        <a:buNone/>
                      </a:pPr>
                      <a:r>
                        <a:rPr lang="en-US" sz="1100" dirty="0">
                          <a:solidFill>
                            <a:srgbClr val="FFFFFF"/>
                          </a:solidFill>
                          <a:latin typeface="Arial" pitchFamily="34" charset="0"/>
                          <a:ea typeface="Arial" pitchFamily="34" charset="-122"/>
                          <a:cs typeface="Arial" pitchFamily="34" charset="-120"/>
                        </a:rPr>
                        <a:t>1</a:t>
                      </a:r>
                      <a:endParaRPr lang="en-US" sz="1100" dirty="0">
                        <a:latin typeface="Arial" charset="0"/>
                        <a:ea typeface="Arial" charset="0"/>
                        <a:cs typeface="Arial" charset="0"/>
                      </a:endParaRPr>
                    </a:p>
                  </a:txBody>
                  <a:tcPr marL="91440" marR="91440" marT="45720" marB="45720">
                    <a:lnL w="25400" cap="flat" cmpd="sng" algn="ctr">
                      <a:solidFill>
                        <a:srgbClr val="0E0E17"/>
                      </a:solidFill>
                      <a:prstDash val="solid"/>
                      <a:round/>
                      <a:headEnd type="none" w="med" len="med"/>
                      <a:tailEnd type="none" w="med" len="med"/>
                    </a:lnL>
                    <a:lnR w="25400" cap="flat" cmpd="sng" algn="ctr">
                      <a:solidFill>
                        <a:srgbClr val="0E0E17"/>
                      </a:solidFill>
                      <a:prstDash val="solid"/>
                      <a:round/>
                      <a:headEnd type="none" w="med" len="med"/>
                      <a:tailEnd type="none" w="med" len="med"/>
                    </a:lnR>
                    <a:lnT w="25400" cap="flat" cmpd="sng" algn="ctr">
                      <a:solidFill>
                        <a:srgbClr val="0E0E17"/>
                      </a:solidFill>
                      <a:prstDash val="solid"/>
                      <a:round/>
                      <a:headEnd type="none" w="med" len="med"/>
                      <a:tailEnd type="none" w="med" len="med"/>
                    </a:lnT>
                    <a:lnB w="25400" cap="flat" cmpd="sng" algn="ctr">
                      <a:solidFill>
                        <a:srgbClr val="0E0E17"/>
                      </a:solidFill>
                      <a:prstDash val="solid"/>
                      <a:round/>
                      <a:headEnd type="none" w="med" len="med"/>
                      <a:tailEnd type="none" w="med" len="med"/>
                    </a:lnB>
                    <a:solidFill>
                      <a:srgbClr val="161527"/>
                    </a:solidFill>
                  </a:tcPr>
                </a:tc>
                <a:tc>
                  <a:txBody>
                    <a:bodyPr/>
                    <a:lstStyle/>
                    <a:p>
                      <a:pPr algn="ctr" indent="0" marL="0">
                        <a:buNone/>
                      </a:pPr>
                      <a:r>
                        <a:rPr lang="en-US" sz="1100" dirty="0">
                          <a:solidFill>
                            <a:srgbClr val="FFFFFF"/>
                          </a:solidFill>
                          <a:latin typeface="Arial" pitchFamily="34" charset="0"/>
                          <a:ea typeface="Arial" pitchFamily="34" charset="-122"/>
                          <a:cs typeface="Arial" pitchFamily="34" charset="-120"/>
                        </a:rPr>
                        <a:t>12</a:t>
                      </a:r>
                      <a:endParaRPr lang="en-US" sz="1100" dirty="0">
                        <a:latin typeface="Arial" charset="0"/>
                        <a:ea typeface="Arial" charset="0"/>
                        <a:cs typeface="Arial" charset="0"/>
                      </a:endParaRPr>
                    </a:p>
                  </a:txBody>
                  <a:tcPr marL="91440" marR="91440" marT="45720" marB="45720">
                    <a:lnL w="25400" cap="flat" cmpd="sng" algn="ctr">
                      <a:solidFill>
                        <a:srgbClr val="0E0E17"/>
                      </a:solidFill>
                      <a:prstDash val="solid"/>
                      <a:round/>
                      <a:headEnd type="none" w="med" len="med"/>
                      <a:tailEnd type="none" w="med" len="med"/>
                    </a:lnL>
                    <a:lnR w="25400" cap="flat" cmpd="sng" algn="ctr">
                      <a:solidFill>
                        <a:srgbClr val="0E0E17"/>
                      </a:solidFill>
                      <a:prstDash val="solid"/>
                      <a:round/>
                      <a:headEnd type="none" w="med" len="med"/>
                      <a:tailEnd type="none" w="med" len="med"/>
                    </a:lnR>
                    <a:lnT w="25400" cap="flat" cmpd="sng" algn="ctr">
                      <a:solidFill>
                        <a:srgbClr val="0E0E17"/>
                      </a:solidFill>
                      <a:prstDash val="solid"/>
                      <a:round/>
                      <a:headEnd type="none" w="med" len="med"/>
                      <a:tailEnd type="none" w="med" len="med"/>
                    </a:lnT>
                    <a:lnB w="25400" cap="flat" cmpd="sng" algn="ctr">
                      <a:solidFill>
                        <a:srgbClr val="0E0E17"/>
                      </a:solidFill>
                      <a:prstDash val="solid"/>
                      <a:round/>
                      <a:headEnd type="none" w="med" len="med"/>
                      <a:tailEnd type="none" w="med" len="med"/>
                    </a:lnB>
                    <a:solidFill>
                      <a:srgbClr val="161527"/>
                    </a:solidFill>
                  </a:tcPr>
                </a:tc>
                <a:tc>
                  <a:txBody>
                    <a:bodyPr/>
                    <a:lstStyle/>
                    <a:p>
                      <a:pPr algn="r" indent="0" marL="0">
                        <a:buNone/>
                      </a:pPr>
                      <a:r>
                        <a:rPr lang="en-US" sz="1100" dirty="0">
                          <a:solidFill>
                            <a:srgbClr val="FFFFFF"/>
                          </a:solidFill>
                          <a:latin typeface="Arial" pitchFamily="34" charset="0"/>
                          <a:ea typeface="Arial" pitchFamily="34" charset="-122"/>
                          <a:cs typeface="Arial" pitchFamily="34" charset="-120"/>
                        </a:rPr>
                        <a:t>$22.482</a:t>
                      </a:r>
                      <a:endParaRPr lang="en-US" sz="1100" dirty="0">
                        <a:latin typeface="Arial" charset="0"/>
                        <a:ea typeface="Arial" charset="0"/>
                        <a:cs typeface="Arial" charset="0"/>
                      </a:endParaRPr>
                    </a:p>
                  </a:txBody>
                  <a:tcPr marL="91440" marR="91440" marT="45720" marB="45720">
                    <a:lnL w="25400" cap="flat" cmpd="sng" algn="ctr">
                      <a:solidFill>
                        <a:srgbClr val="0E0E17"/>
                      </a:solidFill>
                      <a:prstDash val="solid"/>
                      <a:round/>
                      <a:headEnd type="none" w="med" len="med"/>
                      <a:tailEnd type="none" w="med" len="med"/>
                    </a:lnL>
                    <a:lnR w="25400" cap="flat" cmpd="sng" algn="ctr">
                      <a:solidFill>
                        <a:srgbClr val="0E0E17"/>
                      </a:solidFill>
                      <a:prstDash val="solid"/>
                      <a:round/>
                      <a:headEnd type="none" w="med" len="med"/>
                      <a:tailEnd type="none" w="med" len="med"/>
                    </a:lnR>
                    <a:lnT w="25400" cap="flat" cmpd="sng" algn="ctr">
                      <a:solidFill>
                        <a:srgbClr val="0E0E17"/>
                      </a:solidFill>
                      <a:prstDash val="solid"/>
                      <a:round/>
                      <a:headEnd type="none" w="med" len="med"/>
                      <a:tailEnd type="none" w="med" len="med"/>
                    </a:lnT>
                    <a:lnB w="25400" cap="flat" cmpd="sng" algn="ctr">
                      <a:solidFill>
                        <a:srgbClr val="0E0E17"/>
                      </a:solidFill>
                      <a:prstDash val="solid"/>
                      <a:round/>
                      <a:headEnd type="none" w="med" len="med"/>
                      <a:tailEnd type="none" w="med" len="med"/>
                    </a:lnB>
                    <a:solidFill>
                      <a:srgbClr val="161527"/>
                    </a:solidFill>
                  </a:tcPr>
                </a:tc>
                <a:tc>
                  <a:txBody>
                    <a:bodyPr/>
                    <a:lstStyle/>
                    <a:p>
                      <a:pPr algn="r" indent="0" marL="0">
                        <a:buNone/>
                      </a:pPr>
                      <a:r>
                        <a:rPr lang="en-US" sz="1100" dirty="0">
                          <a:solidFill>
                            <a:srgbClr val="FFFFFF"/>
                          </a:solidFill>
                          <a:latin typeface="Arial" pitchFamily="34" charset="0"/>
                          <a:ea typeface="Arial" pitchFamily="34" charset="-122"/>
                          <a:cs typeface="Arial" pitchFamily="34" charset="-120"/>
                        </a:rPr>
                        <a:t>$269.788</a:t>
                      </a:r>
                      <a:endParaRPr lang="en-US" sz="1100" dirty="0">
                        <a:latin typeface="Arial" charset="0"/>
                        <a:ea typeface="Arial" charset="0"/>
                        <a:cs typeface="Arial" charset="0"/>
                      </a:endParaRPr>
                    </a:p>
                  </a:txBody>
                  <a:tcPr marL="91440" marR="91440" marT="45720" marB="45720">
                    <a:lnL w="25400" cap="flat" cmpd="sng" algn="ctr">
                      <a:solidFill>
                        <a:srgbClr val="0E0E17"/>
                      </a:solidFill>
                      <a:prstDash val="solid"/>
                      <a:round/>
                      <a:headEnd type="none" w="med" len="med"/>
                      <a:tailEnd type="none" w="med" len="med"/>
                    </a:lnL>
                    <a:lnR w="25400" cap="flat" cmpd="sng" algn="ctr">
                      <a:solidFill>
                        <a:srgbClr val="0E0E17"/>
                      </a:solidFill>
                      <a:prstDash val="solid"/>
                      <a:round/>
                      <a:headEnd type="none" w="med" len="med"/>
                      <a:tailEnd type="none" w="med" len="med"/>
                    </a:lnR>
                    <a:lnT w="25400" cap="flat" cmpd="sng" algn="ctr">
                      <a:solidFill>
                        <a:srgbClr val="0E0E17"/>
                      </a:solidFill>
                      <a:prstDash val="solid"/>
                      <a:round/>
                      <a:headEnd type="none" w="med" len="med"/>
                      <a:tailEnd type="none" w="med" len="med"/>
                    </a:lnT>
                    <a:lnB w="25400" cap="flat" cmpd="sng" algn="ctr">
                      <a:solidFill>
                        <a:srgbClr val="0E0E17"/>
                      </a:solidFill>
                      <a:prstDash val="solid"/>
                      <a:round/>
                      <a:headEnd type="none" w="med" len="med"/>
                      <a:tailEnd type="none" w="med" len="med"/>
                    </a:lnB>
                    <a:solidFill>
                      <a:srgbClr val="161527"/>
                    </a:solidFill>
                  </a:tcPr>
                </a:tc>
              </a:tr>
              <a:tr h="457200">
                <a:tc>
                  <a:txBody>
                    <a:bodyPr/>
                    <a:lstStyle/>
                    <a:p>
                      <a:pPr indent="0" marL="0">
                        <a:buNone/>
                      </a:pPr>
                      <a:r>
                        <a:rPr lang="en-US" sz="1100" dirty="0">
                          <a:solidFill>
                            <a:srgbClr val="FFFFFF"/>
                          </a:solidFill>
                          <a:latin typeface="Arial" pitchFamily="34" charset="0"/>
                          <a:ea typeface="Arial" pitchFamily="34" charset="-122"/>
                          <a:cs typeface="Arial" pitchFamily="34" charset="-120"/>
                        </a:rPr>
                        <a:t>Taller de buenas prácticas (3 horas) para aprovechar al máximo la plataforma</a:t>
                      </a:r>
                      <a:endParaRPr lang="en-US" sz="1100" dirty="0">
                        <a:latin typeface="Arial" charset="0"/>
                        <a:ea typeface="Arial" charset="0"/>
                        <a:cs typeface="Arial" charset="0"/>
                      </a:endParaRPr>
                    </a:p>
                  </a:txBody>
                  <a:tcPr marL="91440" marR="91440" marT="45720" marB="45720">
                    <a:lnL w="25400" cap="flat" cmpd="sng" algn="ctr">
                      <a:solidFill>
                        <a:srgbClr val="0E0E17"/>
                      </a:solidFill>
                      <a:prstDash val="solid"/>
                      <a:round/>
                      <a:headEnd type="none" w="med" len="med"/>
                      <a:tailEnd type="none" w="med" len="med"/>
                    </a:lnL>
                    <a:lnR w="25400" cap="flat" cmpd="sng" algn="ctr">
                      <a:solidFill>
                        <a:srgbClr val="0E0E17"/>
                      </a:solidFill>
                      <a:prstDash val="solid"/>
                      <a:round/>
                      <a:headEnd type="none" w="med" len="med"/>
                      <a:tailEnd type="none" w="med" len="med"/>
                    </a:lnR>
                    <a:lnT w="25400" cap="flat" cmpd="sng" algn="ctr">
                      <a:solidFill>
                        <a:srgbClr val="0E0E17"/>
                      </a:solidFill>
                      <a:prstDash val="solid"/>
                      <a:round/>
                      <a:headEnd type="none" w="med" len="med"/>
                      <a:tailEnd type="none" w="med" len="med"/>
                    </a:lnT>
                    <a:lnB w="25400" cap="flat" cmpd="sng" algn="ctr">
                      <a:solidFill>
                        <a:srgbClr val="0E0E17"/>
                      </a:solidFill>
                      <a:prstDash val="solid"/>
                      <a:round/>
                      <a:headEnd type="none" w="med" len="med"/>
                      <a:tailEnd type="none" w="med" len="med"/>
                    </a:lnB>
                    <a:solidFill>
                      <a:srgbClr val="161527"/>
                    </a:solidFill>
                  </a:tcPr>
                </a:tc>
                <a:tc>
                  <a:txBody>
                    <a:bodyPr/>
                    <a:lstStyle/>
                    <a:p>
                      <a:pPr algn="ctr" indent="0" marL="0">
                        <a:buNone/>
                      </a:pPr>
                      <a:r>
                        <a:rPr lang="en-US" sz="1100" dirty="0">
                          <a:solidFill>
                            <a:srgbClr val="FFFFFF"/>
                          </a:solidFill>
                          <a:latin typeface="Arial" pitchFamily="34" charset="0"/>
                          <a:ea typeface="Arial" pitchFamily="34" charset="-122"/>
                          <a:cs typeface="Arial" pitchFamily="34" charset="-120"/>
                        </a:rPr>
                        <a:t>1</a:t>
                      </a:r>
                      <a:endParaRPr lang="en-US" sz="1100" dirty="0">
                        <a:latin typeface="Arial" charset="0"/>
                        <a:ea typeface="Arial" charset="0"/>
                        <a:cs typeface="Arial" charset="0"/>
                      </a:endParaRPr>
                    </a:p>
                  </a:txBody>
                  <a:tcPr marL="91440" marR="91440" marT="45720" marB="45720">
                    <a:lnL w="25400" cap="flat" cmpd="sng" algn="ctr">
                      <a:solidFill>
                        <a:srgbClr val="0E0E17"/>
                      </a:solidFill>
                      <a:prstDash val="solid"/>
                      <a:round/>
                      <a:headEnd type="none" w="med" len="med"/>
                      <a:tailEnd type="none" w="med" len="med"/>
                    </a:lnL>
                    <a:lnR w="25400" cap="flat" cmpd="sng" algn="ctr">
                      <a:solidFill>
                        <a:srgbClr val="0E0E17"/>
                      </a:solidFill>
                      <a:prstDash val="solid"/>
                      <a:round/>
                      <a:headEnd type="none" w="med" len="med"/>
                      <a:tailEnd type="none" w="med" len="med"/>
                    </a:lnR>
                    <a:lnT w="25400" cap="flat" cmpd="sng" algn="ctr">
                      <a:solidFill>
                        <a:srgbClr val="0E0E17"/>
                      </a:solidFill>
                      <a:prstDash val="solid"/>
                      <a:round/>
                      <a:headEnd type="none" w="med" len="med"/>
                      <a:tailEnd type="none" w="med" len="med"/>
                    </a:lnT>
                    <a:lnB w="25400" cap="flat" cmpd="sng" algn="ctr">
                      <a:solidFill>
                        <a:srgbClr val="0E0E17"/>
                      </a:solidFill>
                      <a:prstDash val="solid"/>
                      <a:round/>
                      <a:headEnd type="none" w="med" len="med"/>
                      <a:tailEnd type="none" w="med" len="med"/>
                    </a:lnB>
                    <a:solidFill>
                      <a:srgbClr val="161527"/>
                    </a:solidFill>
                  </a:tcPr>
                </a:tc>
                <a:tc>
                  <a:txBody>
                    <a:bodyPr/>
                    <a:lstStyle/>
                    <a:p>
                      <a:pPr algn="ctr" indent="0" marL="0">
                        <a:buNone/>
                      </a:pPr>
                      <a:r>
                        <a:rPr lang="en-US" sz="1100" dirty="0">
                          <a:solidFill>
                            <a:srgbClr val="FFFFFF"/>
                          </a:solidFill>
                          <a:latin typeface="Arial" pitchFamily="34" charset="0"/>
                          <a:ea typeface="Arial" pitchFamily="34" charset="-122"/>
                          <a:cs typeface="Arial" pitchFamily="34" charset="-120"/>
                        </a:rPr>
                        <a:t>—</a:t>
                      </a:r>
                      <a:endParaRPr lang="en-US" sz="1100" dirty="0">
                        <a:latin typeface="Arial" charset="0"/>
                        <a:ea typeface="Arial" charset="0"/>
                        <a:cs typeface="Arial" charset="0"/>
                      </a:endParaRPr>
                    </a:p>
                  </a:txBody>
                  <a:tcPr marL="91440" marR="91440" marT="45720" marB="45720">
                    <a:lnL w="25400" cap="flat" cmpd="sng" algn="ctr">
                      <a:solidFill>
                        <a:srgbClr val="0E0E17"/>
                      </a:solidFill>
                      <a:prstDash val="solid"/>
                      <a:round/>
                      <a:headEnd type="none" w="med" len="med"/>
                      <a:tailEnd type="none" w="med" len="med"/>
                    </a:lnL>
                    <a:lnR w="25400" cap="flat" cmpd="sng" algn="ctr">
                      <a:solidFill>
                        <a:srgbClr val="0E0E17"/>
                      </a:solidFill>
                      <a:prstDash val="solid"/>
                      <a:round/>
                      <a:headEnd type="none" w="med" len="med"/>
                      <a:tailEnd type="none" w="med" len="med"/>
                    </a:lnR>
                    <a:lnT w="25400" cap="flat" cmpd="sng" algn="ctr">
                      <a:solidFill>
                        <a:srgbClr val="0E0E17"/>
                      </a:solidFill>
                      <a:prstDash val="solid"/>
                      <a:round/>
                      <a:headEnd type="none" w="med" len="med"/>
                      <a:tailEnd type="none" w="med" len="med"/>
                    </a:lnT>
                    <a:lnB w="25400" cap="flat" cmpd="sng" algn="ctr">
                      <a:solidFill>
                        <a:srgbClr val="0E0E17"/>
                      </a:solidFill>
                      <a:prstDash val="solid"/>
                      <a:round/>
                      <a:headEnd type="none" w="med" len="med"/>
                      <a:tailEnd type="none" w="med" len="med"/>
                    </a:lnB>
                    <a:solidFill>
                      <a:srgbClr val="161527"/>
                    </a:solidFill>
                  </a:tcPr>
                </a:tc>
                <a:tc>
                  <a:txBody>
                    <a:bodyPr/>
                    <a:lstStyle/>
                    <a:p>
                      <a:pPr algn="r" indent="0" marL="0">
                        <a:buNone/>
                      </a:pPr>
                      <a:r>
                        <a:rPr lang="en-US" sz="1100" dirty="0">
                          <a:solidFill>
                            <a:srgbClr val="FFFFFF"/>
                          </a:solidFill>
                          <a:latin typeface="Arial" pitchFamily="34" charset="0"/>
                          <a:ea typeface="Arial" pitchFamily="34" charset="-122"/>
                          <a:cs typeface="Arial" pitchFamily="34" charset="-120"/>
                        </a:rPr>
                        <a:t>—</a:t>
                      </a:r>
                      <a:endParaRPr lang="en-US" sz="1100" dirty="0">
                        <a:latin typeface="Arial" charset="0"/>
                        <a:ea typeface="Arial" charset="0"/>
                        <a:cs typeface="Arial" charset="0"/>
                      </a:endParaRPr>
                    </a:p>
                  </a:txBody>
                  <a:tcPr marL="91440" marR="91440" marT="45720" marB="45720">
                    <a:lnL w="25400" cap="flat" cmpd="sng" algn="ctr">
                      <a:solidFill>
                        <a:srgbClr val="0E0E17"/>
                      </a:solidFill>
                      <a:prstDash val="solid"/>
                      <a:round/>
                      <a:headEnd type="none" w="med" len="med"/>
                      <a:tailEnd type="none" w="med" len="med"/>
                    </a:lnL>
                    <a:lnR w="25400" cap="flat" cmpd="sng" algn="ctr">
                      <a:solidFill>
                        <a:srgbClr val="0E0E17"/>
                      </a:solidFill>
                      <a:prstDash val="solid"/>
                      <a:round/>
                      <a:headEnd type="none" w="med" len="med"/>
                      <a:tailEnd type="none" w="med" len="med"/>
                    </a:lnR>
                    <a:lnT w="25400" cap="flat" cmpd="sng" algn="ctr">
                      <a:solidFill>
                        <a:srgbClr val="0E0E17"/>
                      </a:solidFill>
                      <a:prstDash val="solid"/>
                      <a:round/>
                      <a:headEnd type="none" w="med" len="med"/>
                      <a:tailEnd type="none" w="med" len="med"/>
                    </a:lnT>
                    <a:lnB w="25400" cap="flat" cmpd="sng" algn="ctr">
                      <a:solidFill>
                        <a:srgbClr val="0E0E17"/>
                      </a:solidFill>
                      <a:prstDash val="solid"/>
                      <a:round/>
                      <a:headEnd type="none" w="med" len="med"/>
                      <a:tailEnd type="none" w="med" len="med"/>
                    </a:lnB>
                    <a:solidFill>
                      <a:srgbClr val="161527"/>
                    </a:solidFill>
                  </a:tcPr>
                </a:tc>
                <a:tc>
                  <a:txBody>
                    <a:bodyPr/>
                    <a:lstStyle/>
                    <a:p>
                      <a:pPr algn="r" indent="0" marL="0">
                        <a:buNone/>
                      </a:pPr>
                      <a:r>
                        <a:rPr lang="en-US" sz="1100" dirty="0">
                          <a:solidFill>
                            <a:srgbClr val="FFFFFF"/>
                          </a:solidFill>
                          <a:latin typeface="Arial" pitchFamily="34" charset="0"/>
                          <a:ea typeface="Arial" pitchFamily="34" charset="-122"/>
                          <a:cs typeface="Arial" pitchFamily="34" charset="-120"/>
                        </a:rPr>
                        <a:t>Incluida</a:t>
                      </a:r>
                      <a:endParaRPr lang="en-US" sz="1100" dirty="0">
                        <a:latin typeface="Arial" charset="0"/>
                        <a:ea typeface="Arial" charset="0"/>
                        <a:cs typeface="Arial" charset="0"/>
                      </a:endParaRPr>
                    </a:p>
                  </a:txBody>
                  <a:tcPr marL="91440" marR="91440" marT="45720" marB="45720">
                    <a:lnL w="25400" cap="flat" cmpd="sng" algn="ctr">
                      <a:solidFill>
                        <a:srgbClr val="0E0E17"/>
                      </a:solidFill>
                      <a:prstDash val="solid"/>
                      <a:round/>
                      <a:headEnd type="none" w="med" len="med"/>
                      <a:tailEnd type="none" w="med" len="med"/>
                    </a:lnL>
                    <a:lnR w="25400" cap="flat" cmpd="sng" algn="ctr">
                      <a:solidFill>
                        <a:srgbClr val="0E0E17"/>
                      </a:solidFill>
                      <a:prstDash val="solid"/>
                      <a:round/>
                      <a:headEnd type="none" w="med" len="med"/>
                      <a:tailEnd type="none" w="med" len="med"/>
                    </a:lnR>
                    <a:lnT w="25400" cap="flat" cmpd="sng" algn="ctr">
                      <a:solidFill>
                        <a:srgbClr val="0E0E17"/>
                      </a:solidFill>
                      <a:prstDash val="solid"/>
                      <a:round/>
                      <a:headEnd type="none" w="med" len="med"/>
                      <a:tailEnd type="none" w="med" len="med"/>
                    </a:lnT>
                    <a:lnB w="25400" cap="flat" cmpd="sng" algn="ctr">
                      <a:solidFill>
                        <a:srgbClr val="0E0E17"/>
                      </a:solidFill>
                      <a:prstDash val="solid"/>
                      <a:round/>
                      <a:headEnd type="none" w="med" len="med"/>
                      <a:tailEnd type="none" w="med" len="med"/>
                    </a:lnB>
                    <a:solidFill>
                      <a:srgbClr val="161527"/>
                    </a:solidFill>
                  </a:tcPr>
                </a:tc>
              </a:tr>
              <a:tr h="457200">
                <a:tc>
                  <a:txBody>
                    <a:bodyPr/>
                    <a:lstStyle/>
                    <a:p>
                      <a:pPr indent="0" marL="0">
                        <a:buNone/>
                      </a:pPr>
                      <a:r>
                        <a:rPr lang="en-US" sz="1100" dirty="0">
                          <a:solidFill>
                            <a:srgbClr val="FFFFFF"/>
                          </a:solidFill>
                          <a:latin typeface="Arial" pitchFamily="34" charset="0"/>
                          <a:ea typeface="Arial" pitchFamily="34" charset="-122"/>
                          <a:cs typeface="Arial" pitchFamily="34" charset="-120"/>
                        </a:rPr>
                        <a:t>Acceso a la comunidad de usuarios de Claude en Chile</a:t>
                      </a:r>
                      <a:endParaRPr lang="en-US" sz="1100" dirty="0">
                        <a:latin typeface="Arial" charset="0"/>
                        <a:ea typeface="Arial" charset="0"/>
                        <a:cs typeface="Arial" charset="0"/>
                      </a:endParaRPr>
                    </a:p>
                  </a:txBody>
                  <a:tcPr marL="91440" marR="91440" marT="45720" marB="45720">
                    <a:lnL w="25400" cap="flat" cmpd="sng" algn="ctr">
                      <a:solidFill>
                        <a:srgbClr val="0E0E17"/>
                      </a:solidFill>
                      <a:prstDash val="solid"/>
                      <a:round/>
                      <a:headEnd type="none" w="med" len="med"/>
                      <a:tailEnd type="none" w="med" len="med"/>
                    </a:lnL>
                    <a:lnR w="25400" cap="flat" cmpd="sng" algn="ctr">
                      <a:solidFill>
                        <a:srgbClr val="0E0E17"/>
                      </a:solidFill>
                      <a:prstDash val="solid"/>
                      <a:round/>
                      <a:headEnd type="none" w="med" len="med"/>
                      <a:tailEnd type="none" w="med" len="med"/>
                    </a:lnR>
                    <a:lnT w="25400" cap="flat" cmpd="sng" algn="ctr">
                      <a:solidFill>
                        <a:srgbClr val="0E0E17"/>
                      </a:solidFill>
                      <a:prstDash val="solid"/>
                      <a:round/>
                      <a:headEnd type="none" w="med" len="med"/>
                      <a:tailEnd type="none" w="med" len="med"/>
                    </a:lnT>
                    <a:lnB w="25400" cap="flat" cmpd="sng" algn="ctr">
                      <a:solidFill>
                        <a:srgbClr val="0E0E17"/>
                      </a:solidFill>
                      <a:prstDash val="solid"/>
                      <a:round/>
                      <a:headEnd type="none" w="med" len="med"/>
                      <a:tailEnd type="none" w="med" len="med"/>
                    </a:lnB>
                    <a:solidFill>
                      <a:srgbClr val="161527"/>
                    </a:solidFill>
                  </a:tcPr>
                </a:tc>
                <a:tc>
                  <a:txBody>
                    <a:bodyPr/>
                    <a:lstStyle/>
                    <a:p>
                      <a:pPr algn="ctr" indent="0" marL="0">
                        <a:buNone/>
                      </a:pPr>
                      <a:r>
                        <a:rPr lang="en-US" sz="1100" dirty="0">
                          <a:solidFill>
                            <a:srgbClr val="FFFFFF"/>
                          </a:solidFill>
                          <a:latin typeface="Arial" pitchFamily="34" charset="0"/>
                          <a:ea typeface="Arial" pitchFamily="34" charset="-122"/>
                          <a:cs typeface="Arial" pitchFamily="34" charset="-120"/>
                        </a:rPr>
                        <a:t>1</a:t>
                      </a:r>
                      <a:endParaRPr lang="en-US" sz="1100" dirty="0">
                        <a:latin typeface="Arial" charset="0"/>
                        <a:ea typeface="Arial" charset="0"/>
                        <a:cs typeface="Arial" charset="0"/>
                      </a:endParaRPr>
                    </a:p>
                  </a:txBody>
                  <a:tcPr marL="91440" marR="91440" marT="45720" marB="45720">
                    <a:lnL w="25400" cap="flat" cmpd="sng" algn="ctr">
                      <a:solidFill>
                        <a:srgbClr val="0E0E17"/>
                      </a:solidFill>
                      <a:prstDash val="solid"/>
                      <a:round/>
                      <a:headEnd type="none" w="med" len="med"/>
                      <a:tailEnd type="none" w="med" len="med"/>
                    </a:lnL>
                    <a:lnR w="25400" cap="flat" cmpd="sng" algn="ctr">
                      <a:solidFill>
                        <a:srgbClr val="0E0E17"/>
                      </a:solidFill>
                      <a:prstDash val="solid"/>
                      <a:round/>
                      <a:headEnd type="none" w="med" len="med"/>
                      <a:tailEnd type="none" w="med" len="med"/>
                    </a:lnR>
                    <a:lnT w="25400" cap="flat" cmpd="sng" algn="ctr">
                      <a:solidFill>
                        <a:srgbClr val="0E0E17"/>
                      </a:solidFill>
                      <a:prstDash val="solid"/>
                      <a:round/>
                      <a:headEnd type="none" w="med" len="med"/>
                      <a:tailEnd type="none" w="med" len="med"/>
                    </a:lnT>
                    <a:lnB w="25400" cap="flat" cmpd="sng" algn="ctr">
                      <a:solidFill>
                        <a:srgbClr val="0E0E17"/>
                      </a:solidFill>
                      <a:prstDash val="solid"/>
                      <a:round/>
                      <a:headEnd type="none" w="med" len="med"/>
                      <a:tailEnd type="none" w="med" len="med"/>
                    </a:lnB>
                    <a:solidFill>
                      <a:srgbClr val="161527"/>
                    </a:solidFill>
                  </a:tcPr>
                </a:tc>
                <a:tc>
                  <a:txBody>
                    <a:bodyPr/>
                    <a:lstStyle/>
                    <a:p>
                      <a:pPr algn="ctr" indent="0" marL="0">
                        <a:buNone/>
                      </a:pPr>
                      <a:r>
                        <a:rPr lang="en-US" sz="1100" dirty="0">
                          <a:solidFill>
                            <a:srgbClr val="FFFFFF"/>
                          </a:solidFill>
                          <a:latin typeface="Arial" pitchFamily="34" charset="0"/>
                          <a:ea typeface="Arial" pitchFamily="34" charset="-122"/>
                          <a:cs typeface="Arial" pitchFamily="34" charset="-120"/>
                        </a:rPr>
                        <a:t>—</a:t>
                      </a:r>
                      <a:endParaRPr lang="en-US" sz="1100" dirty="0">
                        <a:latin typeface="Arial" charset="0"/>
                        <a:ea typeface="Arial" charset="0"/>
                        <a:cs typeface="Arial" charset="0"/>
                      </a:endParaRPr>
                    </a:p>
                  </a:txBody>
                  <a:tcPr marL="91440" marR="91440" marT="45720" marB="45720">
                    <a:lnL w="25400" cap="flat" cmpd="sng" algn="ctr">
                      <a:solidFill>
                        <a:srgbClr val="0E0E17"/>
                      </a:solidFill>
                      <a:prstDash val="solid"/>
                      <a:round/>
                      <a:headEnd type="none" w="med" len="med"/>
                      <a:tailEnd type="none" w="med" len="med"/>
                    </a:lnL>
                    <a:lnR w="25400" cap="flat" cmpd="sng" algn="ctr">
                      <a:solidFill>
                        <a:srgbClr val="0E0E17"/>
                      </a:solidFill>
                      <a:prstDash val="solid"/>
                      <a:round/>
                      <a:headEnd type="none" w="med" len="med"/>
                      <a:tailEnd type="none" w="med" len="med"/>
                    </a:lnR>
                    <a:lnT w="25400" cap="flat" cmpd="sng" algn="ctr">
                      <a:solidFill>
                        <a:srgbClr val="0E0E17"/>
                      </a:solidFill>
                      <a:prstDash val="solid"/>
                      <a:round/>
                      <a:headEnd type="none" w="med" len="med"/>
                      <a:tailEnd type="none" w="med" len="med"/>
                    </a:lnT>
                    <a:lnB w="25400" cap="flat" cmpd="sng" algn="ctr">
                      <a:solidFill>
                        <a:srgbClr val="0E0E17"/>
                      </a:solidFill>
                      <a:prstDash val="solid"/>
                      <a:round/>
                      <a:headEnd type="none" w="med" len="med"/>
                      <a:tailEnd type="none" w="med" len="med"/>
                    </a:lnB>
                    <a:solidFill>
                      <a:srgbClr val="161527"/>
                    </a:solidFill>
                  </a:tcPr>
                </a:tc>
                <a:tc>
                  <a:txBody>
                    <a:bodyPr/>
                    <a:lstStyle/>
                    <a:p>
                      <a:pPr algn="r" indent="0" marL="0">
                        <a:buNone/>
                      </a:pPr>
                      <a:r>
                        <a:rPr lang="en-US" sz="1100" dirty="0">
                          <a:solidFill>
                            <a:srgbClr val="FFFFFF"/>
                          </a:solidFill>
                          <a:latin typeface="Arial" pitchFamily="34" charset="0"/>
                          <a:ea typeface="Arial" pitchFamily="34" charset="-122"/>
                          <a:cs typeface="Arial" pitchFamily="34" charset="-120"/>
                        </a:rPr>
                        <a:t>—</a:t>
                      </a:r>
                      <a:endParaRPr lang="en-US" sz="1100" dirty="0">
                        <a:latin typeface="Arial" charset="0"/>
                        <a:ea typeface="Arial" charset="0"/>
                        <a:cs typeface="Arial" charset="0"/>
                      </a:endParaRPr>
                    </a:p>
                  </a:txBody>
                  <a:tcPr marL="91440" marR="91440" marT="45720" marB="45720">
                    <a:lnL w="25400" cap="flat" cmpd="sng" algn="ctr">
                      <a:solidFill>
                        <a:srgbClr val="0E0E17"/>
                      </a:solidFill>
                      <a:prstDash val="solid"/>
                      <a:round/>
                      <a:headEnd type="none" w="med" len="med"/>
                      <a:tailEnd type="none" w="med" len="med"/>
                    </a:lnL>
                    <a:lnR w="25400" cap="flat" cmpd="sng" algn="ctr">
                      <a:solidFill>
                        <a:srgbClr val="0E0E17"/>
                      </a:solidFill>
                      <a:prstDash val="solid"/>
                      <a:round/>
                      <a:headEnd type="none" w="med" len="med"/>
                      <a:tailEnd type="none" w="med" len="med"/>
                    </a:lnR>
                    <a:lnT w="25400" cap="flat" cmpd="sng" algn="ctr">
                      <a:solidFill>
                        <a:srgbClr val="0E0E17"/>
                      </a:solidFill>
                      <a:prstDash val="solid"/>
                      <a:round/>
                      <a:headEnd type="none" w="med" len="med"/>
                      <a:tailEnd type="none" w="med" len="med"/>
                    </a:lnT>
                    <a:lnB w="25400" cap="flat" cmpd="sng" algn="ctr">
                      <a:solidFill>
                        <a:srgbClr val="0E0E17"/>
                      </a:solidFill>
                      <a:prstDash val="solid"/>
                      <a:round/>
                      <a:headEnd type="none" w="med" len="med"/>
                      <a:tailEnd type="none" w="med" len="med"/>
                    </a:lnB>
                    <a:solidFill>
                      <a:srgbClr val="161527"/>
                    </a:solidFill>
                  </a:tcPr>
                </a:tc>
                <a:tc>
                  <a:txBody>
                    <a:bodyPr/>
                    <a:lstStyle/>
                    <a:p>
                      <a:pPr algn="r" indent="0" marL="0">
                        <a:buNone/>
                      </a:pPr>
                      <a:r>
                        <a:rPr lang="en-US" sz="1100" dirty="0">
                          <a:solidFill>
                            <a:srgbClr val="FFFFFF"/>
                          </a:solidFill>
                          <a:latin typeface="Arial" pitchFamily="34" charset="0"/>
                          <a:ea typeface="Arial" pitchFamily="34" charset="-122"/>
                          <a:cs typeface="Arial" pitchFamily="34" charset="-120"/>
                        </a:rPr>
                        <a:t>Incluida</a:t>
                      </a:r>
                      <a:endParaRPr lang="en-US" sz="1100" dirty="0">
                        <a:latin typeface="Arial" charset="0"/>
                        <a:ea typeface="Arial" charset="0"/>
                        <a:cs typeface="Arial" charset="0"/>
                      </a:endParaRPr>
                    </a:p>
                  </a:txBody>
                  <a:tcPr marL="91440" marR="91440" marT="45720" marB="45720">
                    <a:lnL w="25400" cap="flat" cmpd="sng" algn="ctr">
                      <a:solidFill>
                        <a:srgbClr val="0E0E17"/>
                      </a:solidFill>
                      <a:prstDash val="solid"/>
                      <a:round/>
                      <a:headEnd type="none" w="med" len="med"/>
                      <a:tailEnd type="none" w="med" len="med"/>
                    </a:lnL>
                    <a:lnR w="25400" cap="flat" cmpd="sng" algn="ctr">
                      <a:solidFill>
                        <a:srgbClr val="0E0E17"/>
                      </a:solidFill>
                      <a:prstDash val="solid"/>
                      <a:round/>
                      <a:headEnd type="none" w="med" len="med"/>
                      <a:tailEnd type="none" w="med" len="med"/>
                    </a:lnR>
                    <a:lnT w="25400" cap="flat" cmpd="sng" algn="ctr">
                      <a:solidFill>
                        <a:srgbClr val="0E0E17"/>
                      </a:solidFill>
                      <a:prstDash val="solid"/>
                      <a:round/>
                      <a:headEnd type="none" w="med" len="med"/>
                      <a:tailEnd type="none" w="med" len="med"/>
                    </a:lnT>
                    <a:lnB w="25400" cap="flat" cmpd="sng" algn="ctr">
                      <a:solidFill>
                        <a:srgbClr val="0E0E17"/>
                      </a:solidFill>
                      <a:prstDash val="solid"/>
                      <a:round/>
                      <a:headEnd type="none" w="med" len="med"/>
                      <a:tailEnd type="none" w="med" len="med"/>
                    </a:lnB>
                    <a:solidFill>
                      <a:srgbClr val="161527"/>
                    </a:solidFill>
                  </a:tcPr>
                </a:tc>
              </a:tr>
            </a:tbl>
          </a:graphicData>
        </a:graphic>
      </p:graphicFrame>
      <p:sp>
        <p:nvSpPr>
          <p:cNvPr id="7" name="Text 4"/>
          <p:cNvSpPr/>
          <p:nvPr/>
        </p:nvSpPr>
        <p:spPr>
          <a:xfrm>
            <a:off x="6126480" y="4023360"/>
            <a:ext cx="2103120" cy="365760"/>
          </a:xfrm>
          <a:prstGeom prst="rect">
            <a:avLst/>
          </a:prstGeom>
          <a:noFill/>
          <a:ln/>
        </p:spPr>
        <p:txBody>
          <a:bodyPr wrap="square" rtlCol="0" anchor="ctr"/>
          <a:lstStyle/>
          <a:p>
            <a:pPr indent="0" marL="0">
              <a:buNone/>
            </a:pPr>
            <a:r>
              <a:rPr lang="en-US" sz="1200" dirty="0">
                <a:solidFill>
                  <a:srgbClr val="8A8F98"/>
                </a:solidFill>
                <a:latin typeface="Arial" pitchFamily="34" charset="0"/>
                <a:ea typeface="Arial" pitchFamily="34" charset="-122"/>
                <a:cs typeface="Arial" pitchFamily="34" charset="-120"/>
              </a:rPr>
              <a:t>Neto</a:t>
            </a:r>
            <a:endParaRPr lang="en-US" sz="1200" dirty="0"/>
          </a:p>
        </p:txBody>
      </p:sp>
      <p:sp>
        <p:nvSpPr>
          <p:cNvPr id="8" name="Text 5"/>
          <p:cNvSpPr/>
          <p:nvPr/>
        </p:nvSpPr>
        <p:spPr>
          <a:xfrm>
            <a:off x="8229600" y="4023360"/>
            <a:ext cx="1828800" cy="365760"/>
          </a:xfrm>
          <a:prstGeom prst="rect">
            <a:avLst/>
          </a:prstGeom>
          <a:noFill/>
          <a:ln/>
        </p:spPr>
        <p:txBody>
          <a:bodyPr wrap="square" rtlCol="0" anchor="ctr"/>
          <a:lstStyle/>
          <a:p>
            <a:pPr algn="r" indent="0" marL="0">
              <a:buNone/>
            </a:pPr>
            <a:r>
              <a:rPr lang="en-US" sz="1200" dirty="0">
                <a:solidFill>
                  <a:srgbClr val="FFFFFF"/>
                </a:solidFill>
                <a:latin typeface="Arial" pitchFamily="34" charset="0"/>
                <a:ea typeface="Arial" pitchFamily="34" charset="-122"/>
                <a:cs typeface="Arial" pitchFamily="34" charset="-120"/>
              </a:rPr>
              <a:t>$269.788</a:t>
            </a:r>
            <a:endParaRPr lang="en-US" sz="1200" dirty="0"/>
          </a:p>
        </p:txBody>
      </p:sp>
      <p:sp>
        <p:nvSpPr>
          <p:cNvPr id="9" name="Text 6"/>
          <p:cNvSpPr/>
          <p:nvPr/>
        </p:nvSpPr>
        <p:spPr>
          <a:xfrm>
            <a:off x="6126480" y="4407408"/>
            <a:ext cx="2103120" cy="365760"/>
          </a:xfrm>
          <a:prstGeom prst="rect">
            <a:avLst/>
          </a:prstGeom>
          <a:noFill/>
          <a:ln/>
        </p:spPr>
        <p:txBody>
          <a:bodyPr wrap="square" rtlCol="0" anchor="ctr"/>
          <a:lstStyle/>
          <a:p>
            <a:pPr indent="0" marL="0">
              <a:buNone/>
            </a:pPr>
            <a:r>
              <a:rPr lang="en-US" sz="1200" dirty="0">
                <a:solidFill>
                  <a:srgbClr val="8A8F98"/>
                </a:solidFill>
                <a:latin typeface="Arial" pitchFamily="34" charset="0"/>
                <a:ea typeface="Arial" pitchFamily="34" charset="-122"/>
                <a:cs typeface="Arial" pitchFamily="34" charset="-120"/>
              </a:rPr>
              <a:t>IVA 19%</a:t>
            </a:r>
            <a:endParaRPr lang="en-US" sz="1200" dirty="0"/>
          </a:p>
        </p:txBody>
      </p:sp>
      <p:sp>
        <p:nvSpPr>
          <p:cNvPr id="10" name="Text 7"/>
          <p:cNvSpPr/>
          <p:nvPr/>
        </p:nvSpPr>
        <p:spPr>
          <a:xfrm>
            <a:off x="8229600" y="4407408"/>
            <a:ext cx="1828800" cy="365760"/>
          </a:xfrm>
          <a:prstGeom prst="rect">
            <a:avLst/>
          </a:prstGeom>
          <a:noFill/>
          <a:ln/>
        </p:spPr>
        <p:txBody>
          <a:bodyPr wrap="square" rtlCol="0" anchor="ctr"/>
          <a:lstStyle/>
          <a:p>
            <a:pPr algn="r" indent="0" marL="0">
              <a:buNone/>
            </a:pPr>
            <a:r>
              <a:rPr lang="en-US" sz="1200" dirty="0">
                <a:solidFill>
                  <a:srgbClr val="FFFFFF"/>
                </a:solidFill>
                <a:latin typeface="Arial" pitchFamily="34" charset="0"/>
                <a:ea typeface="Arial" pitchFamily="34" charset="-122"/>
                <a:cs typeface="Arial" pitchFamily="34" charset="-120"/>
              </a:rPr>
              <a:t>$51.260</a:t>
            </a:r>
            <a:endParaRPr lang="en-US" sz="1200" dirty="0"/>
          </a:p>
        </p:txBody>
      </p:sp>
      <p:sp>
        <p:nvSpPr>
          <p:cNvPr id="11" name="Shape 8"/>
          <p:cNvSpPr/>
          <p:nvPr/>
        </p:nvSpPr>
        <p:spPr>
          <a:xfrm>
            <a:off x="6126480" y="4846320"/>
            <a:ext cx="3931920" cy="548640"/>
          </a:xfrm>
          <a:prstGeom prst="roundRect">
            <a:avLst>
              <a:gd name="adj" fmla="val 10000"/>
            </a:avLst>
          </a:prstGeom>
          <a:solidFill>
            <a:srgbClr val="786CF0"/>
          </a:solidFill>
          <a:ln/>
        </p:spPr>
      </p:sp>
      <p:sp>
        <p:nvSpPr>
          <p:cNvPr id="12" name="Text 9"/>
          <p:cNvSpPr/>
          <p:nvPr/>
        </p:nvSpPr>
        <p:spPr>
          <a:xfrm>
            <a:off x="6126480" y="4937760"/>
            <a:ext cx="2103120" cy="365760"/>
          </a:xfrm>
          <a:prstGeom prst="rect">
            <a:avLst/>
          </a:prstGeom>
          <a:noFill/>
          <a:ln/>
        </p:spPr>
        <p:txBody>
          <a:bodyPr wrap="square" rtlCol="0" anchor="ctr"/>
          <a:lstStyle/>
          <a:p>
            <a:pPr indent="0" marL="0">
              <a:buNone/>
            </a:pPr>
            <a:r>
              <a:rPr lang="en-US" sz="1500" b="1" dirty="0">
                <a:solidFill>
                  <a:srgbClr val="FFFFFF"/>
                </a:solidFill>
                <a:latin typeface="Arial" pitchFamily="34" charset="0"/>
                <a:ea typeface="Arial" pitchFamily="34" charset="-122"/>
                <a:cs typeface="Arial" pitchFamily="34" charset="-120"/>
              </a:rPr>
              <a:t>TOTAL</a:t>
            </a:r>
            <a:endParaRPr lang="en-US" sz="1500" dirty="0"/>
          </a:p>
        </p:txBody>
      </p:sp>
      <p:sp>
        <p:nvSpPr>
          <p:cNvPr id="13" name="Text 10"/>
          <p:cNvSpPr/>
          <p:nvPr/>
        </p:nvSpPr>
        <p:spPr>
          <a:xfrm>
            <a:off x="8229600" y="4937760"/>
            <a:ext cx="1828800" cy="365760"/>
          </a:xfrm>
          <a:prstGeom prst="rect">
            <a:avLst/>
          </a:prstGeom>
          <a:noFill/>
          <a:ln/>
        </p:spPr>
        <p:txBody>
          <a:bodyPr wrap="square" rtlCol="0" anchor="ctr"/>
          <a:lstStyle/>
          <a:p>
            <a:pPr algn="r" indent="0" marL="0">
              <a:buNone/>
            </a:pPr>
            <a:r>
              <a:rPr lang="en-US" sz="1500" b="1" dirty="0">
                <a:solidFill>
                  <a:srgbClr val="FFFFFF"/>
                </a:solidFill>
                <a:latin typeface="Arial" pitchFamily="34" charset="0"/>
                <a:ea typeface="Arial" pitchFamily="34" charset="-122"/>
                <a:cs typeface="Arial" pitchFamily="34" charset="-120"/>
              </a:rPr>
              <a:t>$321.048</a:t>
            </a:r>
            <a:endParaRPr lang="en-US" sz="1500" dirty="0"/>
          </a:p>
        </p:txBody>
      </p:sp>
      <p:sp>
        <p:nvSpPr>
          <p:cNvPr id="14" name="Text 11"/>
          <p:cNvSpPr/>
          <p:nvPr/>
        </p:nvSpPr>
        <p:spPr>
          <a:xfrm>
            <a:off x="640080" y="4023360"/>
            <a:ext cx="5212080" cy="365760"/>
          </a:xfrm>
          <a:prstGeom prst="rect">
            <a:avLst/>
          </a:prstGeom>
          <a:noFill/>
          <a:ln/>
        </p:spPr>
        <p:txBody>
          <a:bodyPr wrap="square" rtlCol="0" anchor="ctr"/>
          <a:lstStyle/>
          <a:p>
            <a:pPr indent="0" marL="0">
              <a:buNone/>
            </a:pPr>
            <a:r>
              <a:rPr lang="en-US" sz="1100" dirty="0">
                <a:solidFill>
                  <a:srgbClr val="B4AAFA"/>
                </a:solidFill>
                <a:latin typeface="Arial" pitchFamily="34" charset="0"/>
                <a:ea typeface="Arial" pitchFamily="34" charset="-122"/>
                <a:cs typeface="Arial" pitchFamily="34" charset="-120"/>
              </a:rPr>
              <a:t>Oferta bajo el presupuesto disponible de $350.000</a:t>
            </a:r>
            <a:endParaRPr lang="en-US" sz="1100" dirty="0"/>
          </a:p>
        </p:txBody>
      </p:sp>
      <p:sp>
        <p:nvSpPr>
          <p:cNvPr id="15" name="Text 12"/>
          <p:cNvSpPr/>
          <p:nvPr/>
        </p:nvSpPr>
        <p:spPr>
          <a:xfrm>
            <a:off x="640080" y="5623560"/>
            <a:ext cx="9418320" cy="320040"/>
          </a:xfrm>
          <a:prstGeom prst="rect">
            <a:avLst/>
          </a:prstGeom>
          <a:noFill/>
          <a:ln/>
        </p:spPr>
        <p:txBody>
          <a:bodyPr wrap="square" rtlCol="0" anchor="ctr"/>
          <a:lstStyle/>
          <a:p>
            <a:pPr indent="0" marL="0">
              <a:buNone/>
            </a:pPr>
            <a:r>
              <a:rPr lang="en-US" sz="1400" b="1" dirty="0">
                <a:solidFill>
                  <a:srgbClr val="FFFFFF"/>
                </a:solidFill>
                <a:latin typeface="Arial" pitchFamily="34" charset="0"/>
                <a:ea typeface="Arial" pitchFamily="34" charset="-122"/>
                <a:cs typeface="Arial" pitchFamily="34" charset="-120"/>
              </a:rPr>
              <a:t>Condiciones comerciales</a:t>
            </a:r>
            <a:endParaRPr lang="en-US" sz="1400" dirty="0"/>
          </a:p>
        </p:txBody>
      </p:sp>
      <p:sp>
        <p:nvSpPr>
          <p:cNvPr id="16" name="Text 13"/>
          <p:cNvSpPr/>
          <p:nvPr/>
        </p:nvSpPr>
        <p:spPr>
          <a:xfrm>
            <a:off x="640080" y="5989320"/>
            <a:ext cx="9418320" cy="1188720"/>
          </a:xfrm>
          <a:prstGeom prst="rect">
            <a:avLst/>
          </a:prstGeom>
          <a:noFill/>
          <a:ln/>
        </p:spPr>
        <p:txBody>
          <a:bodyPr wrap="square" rtlCol="0" anchor="ctr"/>
          <a:lstStyle/>
          <a:p>
            <a:pPr indent="0" marL="0">
              <a:lnSpc>
                <a:spcPct val="130000"/>
              </a:lnSpc>
              <a:buNone/>
            </a:pPr>
            <a:r>
              <a:rPr lang="en-US" sz="1100" dirty="0">
                <a:solidFill>
                  <a:srgbClr val="8A8F98"/>
                </a:solidFill>
                <a:latin typeface="Arial" pitchFamily="34" charset="0"/>
                <a:ea typeface="Arial" pitchFamily="34" charset="-122"/>
                <a:cs typeface="Arial" pitchFamily="34" charset="-120"/>
              </a:rPr>
              <a:t>•  Plazo de entrega / activación: 5 día(s) hábil(es) desde la adjudicación.</a:t>
            </a:r>
            <a:endParaRPr lang="en-US" sz="1100" dirty="0"/>
          </a:p>
          <a:p>
            <a:pPr indent="0" marL="0">
              <a:lnSpc>
                <a:spcPct val="130000"/>
              </a:lnSpc>
              <a:buNone/>
            </a:pPr>
            <a:r>
              <a:rPr lang="en-US" sz="1100" dirty="0">
                <a:solidFill>
                  <a:srgbClr val="8A8F98"/>
                </a:solidFill>
                <a:latin typeface="Arial" pitchFamily="34" charset="0"/>
                <a:ea typeface="Arial" pitchFamily="34" charset="-122"/>
                <a:cs typeface="Arial" pitchFamily="34" charset="-120"/>
              </a:rPr>
              <a:t>•  Incluye, sin costo adicional, un taller de buenas prácticas de 3 horas para aprovechar al máximo la plataforma.</a:t>
            </a:r>
            <a:endParaRPr lang="en-US" sz="1100" dirty="0"/>
          </a:p>
          <a:p>
            <a:pPr indent="0" marL="0">
              <a:lnSpc>
                <a:spcPct val="130000"/>
              </a:lnSpc>
              <a:buNone/>
            </a:pPr>
            <a:r>
              <a:rPr lang="en-US" sz="1100" dirty="0">
                <a:solidFill>
                  <a:srgbClr val="8A8F98"/>
                </a:solidFill>
                <a:latin typeface="Arial" pitchFamily="34" charset="0"/>
                <a:ea typeface="Arial" pitchFamily="34" charset="-122"/>
                <a:cs typeface="Arial" pitchFamily="34" charset="-120"/>
              </a:rPr>
              <a:t>•  Incluye, sin costo adicional, acceso a la comunidad de usuarios de Claude en Chile.</a:t>
            </a:r>
            <a:endParaRPr lang="en-US" sz="1100" dirty="0"/>
          </a:p>
          <a:p>
            <a:pPr indent="0" marL="0">
              <a:lnSpc>
                <a:spcPct val="130000"/>
              </a:lnSpc>
              <a:buNone/>
            </a:pPr>
            <a:r>
              <a:rPr lang="en-US" sz="1100" dirty="0">
                <a:solidFill>
                  <a:srgbClr val="8A8F98"/>
                </a:solidFill>
                <a:latin typeface="Arial" pitchFamily="34" charset="0"/>
                <a:ea typeface="Arial" pitchFamily="34" charset="-122"/>
                <a:cs typeface="Arial" pitchFamily="34" charset="-120"/>
              </a:rPr>
              <a:t>•  Valor de despacho / entrega digital incluido en el monto total.</a:t>
            </a:r>
            <a:endParaRPr lang="en-US" sz="1100" dirty="0"/>
          </a:p>
          <a:p>
            <a:pPr indent="0" marL="0">
              <a:lnSpc>
                <a:spcPct val="130000"/>
              </a:lnSpc>
              <a:buNone/>
            </a:pPr>
            <a:r>
              <a:rPr lang="en-US" sz="1100" dirty="0">
                <a:solidFill>
                  <a:srgbClr val="8A8F98"/>
                </a:solidFill>
                <a:latin typeface="Arial" pitchFamily="34" charset="0"/>
                <a:ea typeface="Arial" pitchFamily="34" charset="-122"/>
                <a:cs typeface="Arial" pitchFamily="34" charset="-120"/>
              </a:rPr>
              <a:t>•  Proveedor con habilidad vigente en el Sistema de Información (Mercado Público).</a:t>
            </a:r>
            <a:endParaRPr lang="en-US" sz="1100" dirty="0"/>
          </a:p>
          <a:p>
            <a:pPr indent="0" marL="0">
              <a:lnSpc>
                <a:spcPct val="130000"/>
              </a:lnSpc>
              <a:buNone/>
            </a:pPr>
            <a:r>
              <a:rPr lang="en-US" sz="1100" dirty="0">
                <a:solidFill>
                  <a:srgbClr val="8A8F98"/>
                </a:solidFill>
                <a:latin typeface="Arial" pitchFamily="34" charset="0"/>
                <a:ea typeface="Arial" pitchFamily="34" charset="-122"/>
                <a:cs typeface="Arial" pitchFamily="34" charset="-120"/>
              </a:rPr>
              <a:t>•  Condiciones excluyentes detectadas en las bases: Se requiere cotizar suscripción anual Claude Pro o equivalente de acuerdo a detalle de documento adjunto</a:t>
            </a:r>
            <a:endParaRPr lang="en-US" sz="1100" dirty="0"/>
          </a:p>
        </p:txBody>
      </p:sp>
      <p:sp>
        <p:nvSpPr>
          <p:cNvPr id="17" name="Text 14"/>
          <p:cNvSpPr/>
          <p:nvPr/>
        </p:nvSpPr>
        <p:spPr>
          <a:xfrm>
            <a:off x="640080" y="7086600"/>
            <a:ext cx="9418320" cy="320040"/>
          </a:xfrm>
          <a:prstGeom prst="rect">
            <a:avLst/>
          </a:prstGeom>
          <a:noFill/>
          <a:ln/>
        </p:spPr>
        <p:txBody>
          <a:bodyPr wrap="square" rtlCol="0" anchor="ctr"/>
          <a:lstStyle/>
          <a:p>
            <a:pPr indent="0" marL="0">
              <a:buNone/>
            </a:pPr>
            <a:r>
              <a:rPr lang="en-US" sz="1000" b="1" dirty="0">
                <a:solidFill>
                  <a:srgbClr val="FF4D4D"/>
                </a:solidFill>
                <a:latin typeface="Arial" pitchFamily="34" charset="0"/>
                <a:ea typeface="Arial" pitchFamily="34" charset="-122"/>
                <a:cs typeface="Arial" pitchFamily="34" charset="-120"/>
              </a:rPr>
              <a:t>KeepSync   —   cristian.molina@keepsync.ai   —   BORRADOR: RUT y razón social pendientes de confirmar antes de enviar</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Slide 1</vt:lpstr>
      <vt:lpstr>Slide 2</vt:lpstr>
      <vt:lpstr>Slide 3</vt:lpstr>
      <vt:lpstr>Slide 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2026-09-14T14:53:22Z</dcterms:created>
  <dcterms:modified xsi:type="dcterms:W3CDTF">2026-09-14T14:53:22Z</dcterms:modified>
</cp:coreProperties>
</file>