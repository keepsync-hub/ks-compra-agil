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7"/>
        </a:solidFill>
      </p:bgPr>
    </p:bg>
    <p:spTree>
      <p:nvGrpSpPr>
        <p:cNvPr id="1" name=""/>
        <p:cNvGrpSpPr/>
        <p:nvPr/>
      </p:nvGrpSpPr>
      <p:grpSpPr>
        <a:xfrm>
          <a:off x="0" y="0"/>
          <a:ext cx="0" cy="0"/>
          <a:chOff x="0" y="0"/>
          <a:chExt cx="0" cy="0"/>
        </a:xfrm>
      </p:grpSpPr>
      <p:sp>
        <p:nvSpPr>
          <p:cNvPr id="2" name="Shape 0"/>
          <p:cNvSpPr/>
          <p:nvPr/>
        </p:nvSpPr>
        <p:spPr>
          <a:xfrm>
            <a:off x="7671816" y="320040"/>
            <a:ext cx="2651760" cy="457200"/>
          </a:xfrm>
          <a:prstGeom prst="roundRect">
            <a:avLst>
              <a:gd name="adj" fmla="val 12000"/>
            </a:avLst>
          </a:prstGeom>
          <a:solidFill>
            <a:srgbClr val="FF4D4D"/>
          </a:solidFill>
          <a:ln/>
        </p:spPr>
      </p:sp>
      <p:sp>
        <p:nvSpPr>
          <p:cNvPr id="3" name="Text 1"/>
          <p:cNvSpPr/>
          <p:nvPr/>
        </p:nvSpPr>
        <p:spPr>
          <a:xfrm>
            <a:off x="7671816" y="320040"/>
            <a:ext cx="265176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BORRADOR — identidad KeepSync sin confirmar</a:t>
            </a:r>
            <a:endParaRPr lang="en-US" sz="900" dirty="0"/>
          </a:p>
        </p:txBody>
      </p:sp>
      <p:pic>
        <p:nvPicPr>
          <p:cNvPr id="4" name="Image 0" descr="/home/user/ks-compra-agil/src/assets/logo-keepsync-blanco.png">    </p:cNvPr>
          <p:cNvPicPr>
            <a:picLocks noChangeAspect="1"/>
          </p:cNvPicPr>
          <p:nvPr/>
        </p:nvPicPr>
        <p:blipFill>
          <a:blip r:embed="rId1"/>
          <a:stretch>
            <a:fillRect/>
          </a:stretch>
        </p:blipFill>
        <p:spPr>
          <a:xfrm>
            <a:off x="640080" y="548640"/>
            <a:ext cx="914400" cy="896112"/>
          </a:xfrm>
          <a:prstGeom prst="rect">
            <a:avLst/>
          </a:prstGeom>
        </p:spPr>
      </p:pic>
      <p:sp>
        <p:nvSpPr>
          <p:cNvPr id="5" name="Text 2"/>
          <p:cNvSpPr/>
          <p:nvPr/>
        </p:nvSpPr>
        <p:spPr>
          <a:xfrm>
            <a:off x="1627632" y="713232"/>
            <a:ext cx="36576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KeepSync</a:t>
            </a:r>
            <a:endParaRPr lang="en-US" sz="2400" dirty="0"/>
          </a:p>
        </p:txBody>
      </p:sp>
      <p:sp>
        <p:nvSpPr>
          <p:cNvPr id="6" name="Text 3"/>
          <p:cNvSpPr/>
          <p:nvPr/>
        </p:nvSpPr>
        <p:spPr>
          <a:xfrm>
            <a:off x="640080" y="2743200"/>
            <a:ext cx="941832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PROPUESTA COMERCIAL</a:t>
            </a:r>
            <a:endParaRPr lang="en-US" sz="3200" dirty="0"/>
          </a:p>
        </p:txBody>
      </p:sp>
      <p:sp>
        <p:nvSpPr>
          <p:cNvPr id="7" name="Text 4"/>
          <p:cNvSpPr/>
          <p:nvPr/>
        </p:nvSpPr>
        <p:spPr>
          <a:xfrm>
            <a:off x="640080" y="3200400"/>
            <a:ext cx="9418320" cy="914400"/>
          </a:xfrm>
          <a:prstGeom prst="rect">
            <a:avLst/>
          </a:prstGeom>
          <a:noFill/>
          <a:ln/>
        </p:spPr>
        <p:txBody>
          <a:bodyPr wrap="square" rtlCol="0" anchor="ctr"/>
          <a:lstStyle/>
          <a:p>
            <a:pPr indent="0" marL="0">
              <a:buNone/>
            </a:pPr>
            <a:r>
              <a:rPr lang="en-US" sz="2200" dirty="0">
                <a:solidFill>
                  <a:srgbClr val="B4AAFA"/>
                </a:solidFill>
                <a:latin typeface="Arial" pitchFamily="34" charset="0"/>
                <a:ea typeface="Arial" pitchFamily="34" charset="-122"/>
                <a:cs typeface="Arial" pitchFamily="34" charset="-120"/>
              </a:rPr>
              <a:t>Licencias Claude Team (asiento estándar) para MUNICIPALIDAD DE ALTO HOSPICIO</a:t>
            </a:r>
            <a:endParaRPr lang="en-US" sz="2200" dirty="0"/>
          </a:p>
        </p:txBody>
      </p:sp>
      <p:sp>
        <p:nvSpPr>
          <p:cNvPr id="8" name="Text 5"/>
          <p:cNvSpPr/>
          <p:nvPr/>
        </p:nvSpPr>
        <p:spPr>
          <a:xfrm>
            <a:off x="640080" y="4617720"/>
            <a:ext cx="9418320" cy="45720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Respuesta a solicitud de Compra Ágil — 3447-431-COT26</a:t>
            </a:r>
            <a:endParaRPr lang="en-US" sz="1400" dirty="0"/>
          </a:p>
        </p:txBody>
      </p:sp>
      <p:sp>
        <p:nvSpPr>
          <p:cNvPr id="9" name="Shape 6"/>
          <p:cNvSpPr/>
          <p:nvPr/>
        </p:nvSpPr>
        <p:spPr>
          <a:xfrm>
            <a:off x="640080" y="5257800"/>
            <a:ext cx="9418320" cy="1417320"/>
          </a:xfrm>
          <a:prstGeom prst="roundRect">
            <a:avLst>
              <a:gd name="adj" fmla="val 5161"/>
            </a:avLst>
          </a:prstGeom>
          <a:solidFill>
            <a:srgbClr val="161527"/>
          </a:solidFill>
          <a:ln/>
        </p:spPr>
      </p:sp>
      <p:sp>
        <p:nvSpPr>
          <p:cNvPr id="10" name="Text 7"/>
          <p:cNvSpPr/>
          <p:nvPr/>
        </p:nvSpPr>
        <p:spPr>
          <a:xfrm>
            <a:off x="914400" y="539496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CLIENTE</a:t>
            </a:r>
            <a:endParaRPr lang="en-US" sz="1100" dirty="0"/>
          </a:p>
        </p:txBody>
      </p:sp>
      <p:sp>
        <p:nvSpPr>
          <p:cNvPr id="11" name="Text 8"/>
          <p:cNvSpPr/>
          <p:nvPr/>
        </p:nvSpPr>
        <p:spPr>
          <a:xfrm>
            <a:off x="3017520" y="539496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MUNICIPALIDAD DE ALTO HOSPICIO</a:t>
            </a:r>
            <a:endParaRPr lang="en-US" sz="1300" dirty="0"/>
          </a:p>
        </p:txBody>
      </p:sp>
      <p:sp>
        <p:nvSpPr>
          <p:cNvPr id="12" name="Text 9"/>
          <p:cNvSpPr/>
          <p:nvPr/>
        </p:nvSpPr>
        <p:spPr>
          <a:xfrm>
            <a:off x="914400" y="576072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PROYECTO</a:t>
            </a:r>
            <a:endParaRPr lang="en-US" sz="1100" dirty="0"/>
          </a:p>
        </p:txBody>
      </p:sp>
      <p:sp>
        <p:nvSpPr>
          <p:cNvPr id="13" name="Text 10"/>
          <p:cNvSpPr/>
          <p:nvPr/>
        </p:nvSpPr>
        <p:spPr>
          <a:xfrm>
            <a:off x="3017520" y="576072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Suscripción por 12 Meses a Plataforma de Inteligencia Artificial Generativa, tipo ChatGPT o equivalente, para la Oficina de Transformación Digital de la Municipalidad de Alto Hospicio.</a:t>
            </a:r>
            <a:endParaRPr lang="en-US" sz="1300" dirty="0"/>
          </a:p>
        </p:txBody>
      </p:sp>
      <p:sp>
        <p:nvSpPr>
          <p:cNvPr id="14" name="Text 11"/>
          <p:cNvSpPr/>
          <p:nvPr/>
        </p:nvSpPr>
        <p:spPr>
          <a:xfrm>
            <a:off x="914400" y="612648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DIRIGIDO A</a:t>
            </a:r>
            <a:endParaRPr lang="en-US" sz="1100" dirty="0"/>
          </a:p>
        </p:txBody>
      </p:sp>
      <p:sp>
        <p:nvSpPr>
          <p:cNvPr id="15" name="Text 12"/>
          <p:cNvSpPr/>
          <p:nvPr/>
        </p:nvSpPr>
        <p:spPr>
          <a:xfrm>
            <a:off x="3017520" y="612648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Ramón Pérez Opazo N° 3125, Piso 2, Oficinas de la SECOPLAC.</a:t>
            </a:r>
            <a:endParaRPr lang="en-US" sz="1300" dirty="0"/>
          </a:p>
        </p:txBody>
      </p:sp>
      <p:sp>
        <p:nvSpPr>
          <p:cNvPr id="16" name="Text 13"/>
          <p:cNvSpPr/>
          <p:nvPr/>
        </p:nvSpPr>
        <p:spPr>
          <a:xfrm>
            <a:off x="640080" y="6995160"/>
            <a:ext cx="9418320" cy="320040"/>
          </a:xfrm>
          <a:prstGeom prst="rect">
            <a:avLst/>
          </a:prstGeom>
          <a:noFill/>
          <a:ln/>
        </p:spPr>
        <p:txBody>
          <a:bodyPr wrap="square" rtlCol="0" anchor="ctr"/>
          <a:lstStyle/>
          <a:p>
            <a:pPr indent="0" marL="0">
              <a:buNone/>
            </a:pPr>
            <a:r>
              <a:rPr lang="en-US" sz="1100" dirty="0">
                <a:solidFill>
                  <a:srgbClr val="8A8F98"/>
                </a:solidFill>
                <a:latin typeface="Arial" pitchFamily="34" charset="0"/>
                <a:ea typeface="Arial" pitchFamily="34" charset="-122"/>
                <a:cs typeface="Arial" pitchFamily="34" charset="-120"/>
              </a:rPr>
              <a:t>Presentado por KeepSync  —  octubre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457200"/>
            <a:ext cx="941832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Solución propuesta</a:t>
            </a:r>
            <a:endParaRPr lang="en-US" sz="2800" dirty="0"/>
          </a:p>
        </p:txBody>
      </p:sp>
      <p:sp>
        <p:nvSpPr>
          <p:cNvPr id="3" name="Text 1"/>
          <p:cNvSpPr/>
          <p:nvPr/>
        </p:nvSpPr>
        <p:spPr>
          <a:xfrm>
            <a:off x="640080" y="960120"/>
            <a:ext cx="9418320" cy="50292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4 cuentas Claude Team (asiento estándar) por 12 meses, con acceso al asistente de IA de Anthropic para el equipo de MUNICIPALIDAD DE ALTO HOSPICIO.</a:t>
            </a:r>
            <a:endParaRPr lang="en-US" sz="1400" dirty="0"/>
          </a:p>
        </p:txBody>
      </p:sp>
      <p:sp>
        <p:nvSpPr>
          <p:cNvPr id="4" name="Shape 2"/>
          <p:cNvSpPr/>
          <p:nvPr/>
        </p:nvSpPr>
        <p:spPr>
          <a:xfrm>
            <a:off x="640080" y="1691640"/>
            <a:ext cx="2926080" cy="1737360"/>
          </a:xfrm>
          <a:prstGeom prst="roundRect">
            <a:avLst>
              <a:gd name="adj" fmla="val 3158"/>
            </a:avLst>
          </a:prstGeom>
          <a:solidFill>
            <a:srgbClr val="161527"/>
          </a:solidFill>
          <a:ln/>
        </p:spPr>
      </p:sp>
      <p:sp>
        <p:nvSpPr>
          <p:cNvPr id="5" name="Shape 3"/>
          <p:cNvSpPr/>
          <p:nvPr/>
        </p:nvSpPr>
        <p:spPr>
          <a:xfrm>
            <a:off x="868680" y="1920240"/>
            <a:ext cx="365760" cy="365760"/>
          </a:xfrm>
          <a:prstGeom prst="ellipse">
            <a:avLst/>
          </a:prstGeom>
          <a:solidFill>
            <a:srgbClr val="786CF0"/>
          </a:solidFill>
          <a:ln/>
        </p:spPr>
      </p:sp>
      <p:sp>
        <p:nvSpPr>
          <p:cNvPr id="6" name="Text 4"/>
          <p:cNvSpPr/>
          <p:nvPr/>
        </p:nvSpPr>
        <p:spPr>
          <a:xfrm>
            <a:off x="86868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6868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Capacidad ampliada</a:t>
            </a:r>
            <a:endParaRPr lang="en-US" sz="1300" dirty="0"/>
          </a:p>
        </p:txBody>
      </p:sp>
      <p:sp>
        <p:nvSpPr>
          <p:cNvPr id="8" name="Text 6"/>
          <p:cNvSpPr/>
          <p:nvPr/>
        </p:nvSpPr>
        <p:spPr>
          <a:xfrm>
            <a:off x="86868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Uso significativamente mayor que el plan gratuito, con acceso prioritario en horas de alta demanda.</a:t>
            </a:r>
            <a:endParaRPr lang="en-US" sz="1000" dirty="0"/>
          </a:p>
        </p:txBody>
      </p:sp>
      <p:sp>
        <p:nvSpPr>
          <p:cNvPr id="9" name="Shape 7"/>
          <p:cNvSpPr/>
          <p:nvPr/>
        </p:nvSpPr>
        <p:spPr>
          <a:xfrm>
            <a:off x="3794760" y="1691640"/>
            <a:ext cx="2926080" cy="1737360"/>
          </a:xfrm>
          <a:prstGeom prst="roundRect">
            <a:avLst>
              <a:gd name="adj" fmla="val 3158"/>
            </a:avLst>
          </a:prstGeom>
          <a:solidFill>
            <a:srgbClr val="161527"/>
          </a:solidFill>
          <a:ln/>
        </p:spPr>
      </p:sp>
      <p:sp>
        <p:nvSpPr>
          <p:cNvPr id="10" name="Shape 8"/>
          <p:cNvSpPr/>
          <p:nvPr/>
        </p:nvSpPr>
        <p:spPr>
          <a:xfrm>
            <a:off x="4023360" y="1920240"/>
            <a:ext cx="365760" cy="365760"/>
          </a:xfrm>
          <a:prstGeom prst="ellipse">
            <a:avLst/>
          </a:prstGeom>
          <a:solidFill>
            <a:srgbClr val="786CF0"/>
          </a:solidFill>
          <a:ln/>
        </p:spPr>
      </p:sp>
      <p:sp>
        <p:nvSpPr>
          <p:cNvPr id="11" name="Text 9"/>
          <p:cNvSpPr/>
          <p:nvPr/>
        </p:nvSpPr>
        <p:spPr>
          <a:xfrm>
            <a:off x="402336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02336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Modelos avanzados</a:t>
            </a:r>
            <a:endParaRPr lang="en-US" sz="1300" dirty="0"/>
          </a:p>
        </p:txBody>
      </p:sp>
      <p:sp>
        <p:nvSpPr>
          <p:cNvPr id="13" name="Text 11"/>
          <p:cNvSpPr/>
          <p:nvPr/>
        </p:nvSpPr>
        <p:spPr>
          <a:xfrm>
            <a:off x="402336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Acceso a los modelos más capaces de Claude para redacción, análisis de documentos, código y automatización.</a:t>
            </a:r>
            <a:endParaRPr lang="en-US" sz="1000" dirty="0"/>
          </a:p>
        </p:txBody>
      </p:sp>
      <p:sp>
        <p:nvSpPr>
          <p:cNvPr id="14" name="Shape 12"/>
          <p:cNvSpPr/>
          <p:nvPr/>
        </p:nvSpPr>
        <p:spPr>
          <a:xfrm>
            <a:off x="6949440" y="1691640"/>
            <a:ext cx="2926080" cy="1737360"/>
          </a:xfrm>
          <a:prstGeom prst="roundRect">
            <a:avLst>
              <a:gd name="adj" fmla="val 3158"/>
            </a:avLst>
          </a:prstGeom>
          <a:solidFill>
            <a:srgbClr val="161527"/>
          </a:solidFill>
          <a:ln/>
        </p:spPr>
      </p:sp>
      <p:sp>
        <p:nvSpPr>
          <p:cNvPr id="15" name="Shape 13"/>
          <p:cNvSpPr/>
          <p:nvPr/>
        </p:nvSpPr>
        <p:spPr>
          <a:xfrm>
            <a:off x="7178040" y="1920240"/>
            <a:ext cx="365760" cy="365760"/>
          </a:xfrm>
          <a:prstGeom prst="ellipse">
            <a:avLst/>
          </a:prstGeom>
          <a:solidFill>
            <a:srgbClr val="786CF0"/>
          </a:solidFill>
          <a:ln/>
        </p:spPr>
      </p:sp>
      <p:sp>
        <p:nvSpPr>
          <p:cNvPr id="16" name="Text 14"/>
          <p:cNvSpPr/>
          <p:nvPr/>
        </p:nvSpPr>
        <p:spPr>
          <a:xfrm>
            <a:off x="717804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717804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Herramientas de trabajo</a:t>
            </a:r>
            <a:endParaRPr lang="en-US" sz="1300" dirty="0"/>
          </a:p>
        </p:txBody>
      </p:sp>
      <p:sp>
        <p:nvSpPr>
          <p:cNvPr id="18" name="Text 16"/>
          <p:cNvSpPr/>
          <p:nvPr/>
        </p:nvSpPr>
        <p:spPr>
          <a:xfrm>
            <a:off x="717804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Proyectos, carga de archivos y funciones de investigación y razonamiento extendido para tareas complejas.</a:t>
            </a:r>
            <a:endParaRPr lang="en-US" sz="1000" dirty="0"/>
          </a:p>
        </p:txBody>
      </p:sp>
      <p:sp>
        <p:nvSpPr>
          <p:cNvPr id="19" name="Text 17"/>
          <p:cNvSpPr/>
          <p:nvPr/>
        </p:nvSpPr>
        <p:spPr>
          <a:xfrm>
            <a:off x="640080" y="3703320"/>
            <a:ext cx="941832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Cumplimiento del requerimiento</a:t>
            </a:r>
            <a:endParaRPr lang="en-US" sz="1600" dirty="0"/>
          </a:p>
        </p:txBody>
      </p:sp>
      <p:sp>
        <p:nvSpPr>
          <p:cNvPr id="20" name="Shape 18"/>
          <p:cNvSpPr/>
          <p:nvPr/>
        </p:nvSpPr>
        <p:spPr>
          <a:xfrm>
            <a:off x="640080" y="4178808"/>
            <a:ext cx="256032" cy="256032"/>
          </a:xfrm>
          <a:prstGeom prst="ellipse">
            <a:avLst/>
          </a:prstGeom>
          <a:solidFill>
            <a:srgbClr val="786CF0"/>
          </a:solidFill>
          <a:ln/>
        </p:spPr>
      </p:sp>
      <p:sp>
        <p:nvSpPr>
          <p:cNvPr id="21" name="Text 19"/>
          <p:cNvSpPr/>
          <p:nvPr/>
        </p:nvSpPr>
        <p:spPr>
          <a:xfrm>
            <a:off x="640080" y="4178808"/>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2" name="Text 20"/>
          <p:cNvSpPr/>
          <p:nvPr/>
        </p:nvSpPr>
        <p:spPr>
          <a:xfrm>
            <a:off x="1005840" y="4160520"/>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Producto/servicio — 4 licencias Claude Team (asiento estándar) — 12 meses</a:t>
            </a:r>
            <a:endParaRPr lang="en-US" sz="1200" dirty="0"/>
          </a:p>
        </p:txBody>
      </p:sp>
      <p:sp>
        <p:nvSpPr>
          <p:cNvPr id="23" name="Shape 21"/>
          <p:cNvSpPr/>
          <p:nvPr/>
        </p:nvSpPr>
        <p:spPr>
          <a:xfrm>
            <a:off x="640080" y="4562856"/>
            <a:ext cx="256032" cy="256032"/>
          </a:xfrm>
          <a:prstGeom prst="ellipse">
            <a:avLst/>
          </a:prstGeom>
          <a:solidFill>
            <a:srgbClr val="786CF0"/>
          </a:solidFill>
          <a:ln/>
        </p:spPr>
      </p:sp>
      <p:sp>
        <p:nvSpPr>
          <p:cNvPr id="24" name="Text 22"/>
          <p:cNvSpPr/>
          <p:nvPr/>
        </p:nvSpPr>
        <p:spPr>
          <a:xfrm>
            <a:off x="640080" y="4562856"/>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5" name="Text 23"/>
          <p:cNvSpPr/>
          <p:nvPr/>
        </p:nvSpPr>
        <p:spPr>
          <a:xfrm>
            <a:off x="1005840" y="4544568"/>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Plazo de entrega — activación en 30 días hábil(es)</a:t>
            </a:r>
            <a:endParaRPr lang="en-US" sz="1200" dirty="0"/>
          </a:p>
        </p:txBody>
      </p:sp>
      <p:sp>
        <p:nvSpPr>
          <p:cNvPr id="26" name="Shape 24"/>
          <p:cNvSpPr/>
          <p:nvPr/>
        </p:nvSpPr>
        <p:spPr>
          <a:xfrm>
            <a:off x="640080" y="4946904"/>
            <a:ext cx="256032" cy="256032"/>
          </a:xfrm>
          <a:prstGeom prst="ellipse">
            <a:avLst/>
          </a:prstGeom>
          <a:solidFill>
            <a:srgbClr val="786CF0"/>
          </a:solidFill>
          <a:ln/>
        </p:spPr>
      </p:sp>
      <p:sp>
        <p:nvSpPr>
          <p:cNvPr id="27" name="Text 25"/>
          <p:cNvSpPr/>
          <p:nvPr/>
        </p:nvSpPr>
        <p:spPr>
          <a:xfrm>
            <a:off x="640080" y="4946904"/>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8" name="Text 26"/>
          <p:cNvSpPr/>
          <p:nvPr/>
        </p:nvSpPr>
        <p:spPr>
          <a:xfrm>
            <a:off x="1005840" y="4928616"/>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Despacho digital — incluido en el valor total</a:t>
            </a:r>
            <a:endParaRPr lang="en-US" sz="1200" dirty="0"/>
          </a:p>
        </p:txBody>
      </p:sp>
      <p:sp>
        <p:nvSpPr>
          <p:cNvPr id="29" name="Text 27"/>
          <p:cNvSpPr/>
          <p:nvPr/>
        </p:nvSpPr>
        <p:spPr>
          <a:xfrm>
            <a:off x="640080" y="6903720"/>
            <a:ext cx="9418320" cy="457200"/>
          </a:xfrm>
          <a:prstGeom prst="rect">
            <a:avLst/>
          </a:prstGeom>
          <a:noFill/>
          <a:ln/>
        </p:spPr>
        <p:txBody>
          <a:bodyPr wrap="square" rtlCol="0" anchor="ctr"/>
          <a:lstStyle/>
          <a:p>
            <a:pPr indent="0" marL="0">
              <a:buNone/>
            </a:pPr>
            <a:r>
              <a:rPr lang="en-US" sz="1000" i="1" dirty="0">
                <a:solidFill>
                  <a:srgbClr val="8A8F98"/>
                </a:solidFill>
                <a:latin typeface="Arial" pitchFamily="34" charset="0"/>
                <a:ea typeface="Arial" pitchFamily="34" charset="-122"/>
                <a:cs typeface="Arial" pitchFamily="34" charset="-120"/>
              </a:rPr>
              <a:t>Proveedor hábil en el Sistema de Información (Mercado Público) — Cotización formal adjunta con el detalle de lo ofertado.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566928" y="502920"/>
            <a:ext cx="8229600" cy="274320"/>
          </a:xfrm>
          <a:prstGeom prst="rect">
            <a:avLst/>
          </a:prstGeom>
          <a:noFill/>
          <a:ln/>
        </p:spPr>
        <p:txBody>
          <a:bodyPr wrap="square" rtlCol="0" anchor="ctr"/>
          <a:lstStyle/>
          <a:p>
            <a:pPr indent="0" marL="0">
              <a:buNone/>
            </a:pPr>
            <a:r>
              <a:rPr lang="en-US" sz="1200" b="1" spc="200" kern="0" dirty="0">
                <a:solidFill>
                  <a:srgbClr val="B4AAFA"/>
                </a:solidFill>
                <a:latin typeface="Arial" pitchFamily="34" charset="0"/>
                <a:ea typeface="Arial" pitchFamily="34" charset="-122"/>
                <a:cs typeface="Arial" pitchFamily="34" charset="-120"/>
              </a:rPr>
              <a:t>MARCO NORMATIVO</a:t>
            </a:r>
            <a:endParaRPr lang="en-US" sz="1200" dirty="0"/>
          </a:p>
        </p:txBody>
      </p:sp>
      <p:sp>
        <p:nvSpPr>
          <p:cNvPr id="3" name="Text 1"/>
          <p:cNvSpPr/>
          <p:nvPr/>
        </p:nvSpPr>
        <p:spPr>
          <a:xfrm>
            <a:off x="566928" y="786384"/>
            <a:ext cx="950976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Alineación con la Ley 21.180</a:t>
            </a:r>
            <a:endParaRPr lang="en-US" sz="2600" dirty="0"/>
          </a:p>
        </p:txBody>
      </p:sp>
      <p:sp>
        <p:nvSpPr>
          <p:cNvPr id="4" name="Text 2"/>
          <p:cNvSpPr/>
          <p:nvPr/>
        </p:nvSpPr>
        <p:spPr>
          <a:xfrm>
            <a:off x="566928" y="1700784"/>
            <a:ext cx="9555480" cy="77724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Ley de Transformación Digital del Estado (Art. 16 bis). Las licencias Claude Team (asiento estándar) potencian al equipo de MUNICIPALIDAD DE ALTO HOSPICIO para operar bajo los principios que la ley establece en la tramitación electrónica de los procedimientos administrativos.</a:t>
            </a:r>
            <a:endParaRPr lang="en-US" sz="1300" dirty="0"/>
          </a:p>
        </p:txBody>
      </p:sp>
      <p:sp>
        <p:nvSpPr>
          <p:cNvPr id="5" name="Shape 3"/>
          <p:cNvSpPr/>
          <p:nvPr/>
        </p:nvSpPr>
        <p:spPr>
          <a:xfrm>
            <a:off x="566928" y="2487168"/>
            <a:ext cx="4626864" cy="1783080"/>
          </a:xfrm>
          <a:prstGeom prst="roundRect">
            <a:avLst>
              <a:gd name="adj" fmla="val 3077"/>
            </a:avLst>
          </a:prstGeom>
          <a:solidFill>
            <a:srgbClr val="161527"/>
          </a:solidFill>
          <a:ln/>
        </p:spPr>
      </p:sp>
      <p:sp>
        <p:nvSpPr>
          <p:cNvPr id="6" name="Shape 4"/>
          <p:cNvSpPr/>
          <p:nvPr/>
        </p:nvSpPr>
        <p:spPr>
          <a:xfrm>
            <a:off x="859536" y="2761488"/>
            <a:ext cx="402336" cy="402336"/>
          </a:xfrm>
          <a:prstGeom prst="ellipse">
            <a:avLst/>
          </a:prstGeom>
          <a:solidFill>
            <a:srgbClr val="786CF0"/>
          </a:solidFill>
          <a:ln/>
        </p:spPr>
      </p:sp>
      <p:sp>
        <p:nvSpPr>
          <p:cNvPr id="7" name="Text 5"/>
          <p:cNvSpPr/>
          <p:nvPr/>
        </p:nvSpPr>
        <p:spPr>
          <a:xfrm>
            <a:off x="859536"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859536"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Actualización</a:t>
            </a:r>
            <a:endParaRPr lang="en-US" sz="1300" dirty="0"/>
          </a:p>
        </p:txBody>
      </p:sp>
      <p:sp>
        <p:nvSpPr>
          <p:cNvPr id="9" name="Text 7"/>
          <p:cNvSpPr/>
          <p:nvPr/>
        </p:nvSpPr>
        <p:spPr>
          <a:xfrm>
            <a:off x="859536"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Claude Team (asiento estándar) es tecnología de IA vigente y con soporte activo: evita el uso de plataformas obsoletas y mantiene al equipo con herramientas de última generación.</a:t>
            </a:r>
            <a:endParaRPr lang="en-US" sz="1000" dirty="0"/>
          </a:p>
        </p:txBody>
      </p:sp>
      <p:sp>
        <p:nvSpPr>
          <p:cNvPr id="10" name="Shape 8"/>
          <p:cNvSpPr/>
          <p:nvPr/>
        </p:nvSpPr>
        <p:spPr>
          <a:xfrm>
            <a:off x="5422392" y="2487168"/>
            <a:ext cx="4626864" cy="1783080"/>
          </a:xfrm>
          <a:prstGeom prst="roundRect">
            <a:avLst>
              <a:gd name="adj" fmla="val 3077"/>
            </a:avLst>
          </a:prstGeom>
          <a:solidFill>
            <a:srgbClr val="161527"/>
          </a:solidFill>
          <a:ln/>
        </p:spPr>
      </p:sp>
      <p:sp>
        <p:nvSpPr>
          <p:cNvPr id="11" name="Shape 9"/>
          <p:cNvSpPr/>
          <p:nvPr/>
        </p:nvSpPr>
        <p:spPr>
          <a:xfrm>
            <a:off x="5715000" y="2761488"/>
            <a:ext cx="402336" cy="402336"/>
          </a:xfrm>
          <a:prstGeom prst="ellipse">
            <a:avLst/>
          </a:prstGeom>
          <a:solidFill>
            <a:srgbClr val="786CF0"/>
          </a:solidFill>
          <a:ln/>
        </p:spPr>
      </p:sp>
      <p:sp>
        <p:nvSpPr>
          <p:cNvPr id="12" name="Text 10"/>
          <p:cNvSpPr/>
          <p:nvPr/>
        </p:nvSpPr>
        <p:spPr>
          <a:xfrm>
            <a:off x="5715000"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5715000"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Escrituración electrónica</a:t>
            </a:r>
            <a:endParaRPr lang="en-US" sz="1300" dirty="0"/>
          </a:p>
        </p:txBody>
      </p:sp>
      <p:sp>
        <p:nvSpPr>
          <p:cNvPr id="14" name="Text 12"/>
          <p:cNvSpPr/>
          <p:nvPr/>
        </p:nvSpPr>
        <p:spPr>
          <a:xfrm>
            <a:off x="5715000"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Acelera la redacción, revisión y estandarización de actos y documentos administrativos expresados por medios electrónicos.</a:t>
            </a:r>
            <a:endParaRPr lang="en-US" sz="1000" dirty="0"/>
          </a:p>
        </p:txBody>
      </p:sp>
      <p:sp>
        <p:nvSpPr>
          <p:cNvPr id="15" name="Shape 13"/>
          <p:cNvSpPr/>
          <p:nvPr/>
        </p:nvSpPr>
        <p:spPr>
          <a:xfrm>
            <a:off x="566928" y="4453128"/>
            <a:ext cx="4626864" cy="1783080"/>
          </a:xfrm>
          <a:prstGeom prst="roundRect">
            <a:avLst>
              <a:gd name="adj" fmla="val 3077"/>
            </a:avLst>
          </a:prstGeom>
          <a:solidFill>
            <a:srgbClr val="161527"/>
          </a:solidFill>
          <a:ln/>
        </p:spPr>
      </p:sp>
      <p:sp>
        <p:nvSpPr>
          <p:cNvPr id="16" name="Shape 14"/>
          <p:cNvSpPr/>
          <p:nvPr/>
        </p:nvSpPr>
        <p:spPr>
          <a:xfrm>
            <a:off x="859536" y="4727448"/>
            <a:ext cx="402336" cy="402336"/>
          </a:xfrm>
          <a:prstGeom prst="ellipse">
            <a:avLst/>
          </a:prstGeom>
          <a:solidFill>
            <a:srgbClr val="786CF0"/>
          </a:solidFill>
          <a:ln/>
        </p:spPr>
      </p:sp>
      <p:sp>
        <p:nvSpPr>
          <p:cNvPr id="17" name="Text 15"/>
          <p:cNvSpPr/>
          <p:nvPr/>
        </p:nvSpPr>
        <p:spPr>
          <a:xfrm>
            <a:off x="859536"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859536"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Fidelidad del expediente</a:t>
            </a:r>
            <a:endParaRPr lang="en-US" sz="1300" dirty="0"/>
          </a:p>
        </p:txBody>
      </p:sp>
      <p:sp>
        <p:nvSpPr>
          <p:cNvPr id="19" name="Text 17"/>
          <p:cNvSpPr/>
          <p:nvPr/>
        </p:nvSpPr>
        <p:spPr>
          <a:xfrm>
            <a:off x="859536"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Apoya el análisis, resumen y ordenamiento de la documentación, ayudando a mantener registros íntegros y trazables.</a:t>
            </a:r>
            <a:endParaRPr lang="en-US" sz="1000" dirty="0"/>
          </a:p>
        </p:txBody>
      </p:sp>
      <p:sp>
        <p:nvSpPr>
          <p:cNvPr id="20" name="Shape 18"/>
          <p:cNvSpPr/>
          <p:nvPr/>
        </p:nvSpPr>
        <p:spPr>
          <a:xfrm>
            <a:off x="5422392" y="4453128"/>
            <a:ext cx="4626864" cy="1783080"/>
          </a:xfrm>
          <a:prstGeom prst="roundRect">
            <a:avLst>
              <a:gd name="adj" fmla="val 3077"/>
            </a:avLst>
          </a:prstGeom>
          <a:solidFill>
            <a:srgbClr val="161527"/>
          </a:solidFill>
          <a:ln/>
        </p:spPr>
      </p:sp>
      <p:sp>
        <p:nvSpPr>
          <p:cNvPr id="21" name="Shape 19"/>
          <p:cNvSpPr/>
          <p:nvPr/>
        </p:nvSpPr>
        <p:spPr>
          <a:xfrm>
            <a:off x="5715000" y="4727448"/>
            <a:ext cx="402336" cy="402336"/>
          </a:xfrm>
          <a:prstGeom prst="ellipse">
            <a:avLst/>
          </a:prstGeom>
          <a:solidFill>
            <a:srgbClr val="786CF0"/>
          </a:solidFill>
          <a:ln/>
        </p:spPr>
      </p:sp>
      <p:sp>
        <p:nvSpPr>
          <p:cNvPr id="22" name="Text 20"/>
          <p:cNvSpPr/>
          <p:nvPr/>
        </p:nvSpPr>
        <p:spPr>
          <a:xfrm>
            <a:off x="5715000"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5715000"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Eficiencia y cooperación</a:t>
            </a:r>
            <a:endParaRPr lang="en-US" sz="1300" dirty="0"/>
          </a:p>
        </p:txBody>
      </p:sp>
      <p:sp>
        <p:nvSpPr>
          <p:cNvPr id="24" name="Text 22"/>
          <p:cNvSpPr/>
          <p:nvPr/>
        </p:nvSpPr>
        <p:spPr>
          <a:xfrm>
            <a:off x="5715000"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Automatiza tareas repetitivas y facilita el trabajo colaborativo entre equipos, liberando tiempo para modernizar los servicios.</a:t>
            </a:r>
            <a:endParaRPr lang="en-US" sz="1000" dirty="0"/>
          </a:p>
        </p:txBody>
      </p:sp>
      <p:sp>
        <p:nvSpPr>
          <p:cNvPr id="25" name="Text 23"/>
          <p:cNvSpPr/>
          <p:nvPr/>
        </p:nvSpPr>
        <p:spPr>
          <a:xfrm>
            <a:off x="566928" y="6858000"/>
            <a:ext cx="9555480" cy="457200"/>
          </a:xfrm>
          <a:prstGeom prst="rect">
            <a:avLst/>
          </a:prstGeom>
          <a:noFill/>
          <a:ln/>
        </p:spPr>
        <p:txBody>
          <a:bodyPr wrap="square" rtlCol="0" anchor="ctr"/>
          <a:lstStyle/>
          <a:p>
            <a:pPr indent="0" marL="0">
              <a:buNone/>
            </a:pPr>
            <a:r>
              <a:rPr lang="en-US" sz="900" i="1" dirty="0">
                <a:solidFill>
                  <a:srgbClr val="8A8F98"/>
                </a:solidFill>
                <a:latin typeface="Arial" pitchFamily="34" charset="0"/>
                <a:ea typeface="Arial" pitchFamily="34" charset="-122"/>
                <a:cs typeface="Arial" pitchFamily="34" charset="-120"/>
              </a:rPr>
              <a:t>Claude Team (asiento estándar) es una herramienta de apoyo a la gestión; el cumplimiento normativo depende de los procesos, firmas y plataformas oficiales de MUNICIPALIDAD DE ALTO HOSPICIO. Ley 21.180 — modifica la Ley 19.880.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7"/>
        </a:solidFill>
      </p:bgPr>
    </p:bg>
    <p:spTree>
      <p:nvGrpSpPr>
        <p:cNvPr id="1" name=""/>
        <p:cNvGrpSpPr/>
        <p:nvPr/>
      </p:nvGrpSpPr>
      <p:grpSpPr>
        <a:xfrm>
          <a:off x="0" y="0"/>
          <a:ext cx="0" cy="0"/>
          <a:chOff x="0" y="0"/>
          <a:chExt cx="0" cy="0"/>
        </a:xfrm>
      </p:grpSpPr>
      <p:sp>
        <p:nvSpPr>
          <p:cNvPr id="2" name="Shape 0"/>
          <p:cNvSpPr/>
          <p:nvPr/>
        </p:nvSpPr>
        <p:spPr>
          <a:xfrm>
            <a:off x="7671816" y="320040"/>
            <a:ext cx="2651760" cy="457200"/>
          </a:xfrm>
          <a:prstGeom prst="roundRect">
            <a:avLst>
              <a:gd name="adj" fmla="val 12000"/>
            </a:avLst>
          </a:prstGeom>
          <a:solidFill>
            <a:srgbClr val="FF4D4D"/>
          </a:solidFill>
          <a:ln/>
        </p:spPr>
      </p:sp>
      <p:sp>
        <p:nvSpPr>
          <p:cNvPr id="3" name="Text 1"/>
          <p:cNvSpPr/>
          <p:nvPr/>
        </p:nvSpPr>
        <p:spPr>
          <a:xfrm>
            <a:off x="7671816" y="320040"/>
            <a:ext cx="265176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BORRADOR — identidad KeepSync sin confirmar</a:t>
            </a:r>
            <a:endParaRPr lang="en-US" sz="900" dirty="0"/>
          </a:p>
        </p:txBody>
      </p:sp>
      <p:sp>
        <p:nvSpPr>
          <p:cNvPr id="4" name="Text 2"/>
          <p:cNvSpPr/>
          <p:nvPr/>
        </p:nvSpPr>
        <p:spPr>
          <a:xfrm>
            <a:off x="640080" y="502920"/>
            <a:ext cx="941832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Cotización formal</a:t>
            </a:r>
            <a:endParaRPr lang="en-US" sz="3000" dirty="0"/>
          </a:p>
        </p:txBody>
      </p:sp>
      <p:sp>
        <p:nvSpPr>
          <p:cNvPr id="5" name="Text 3"/>
          <p:cNvSpPr/>
          <p:nvPr/>
        </p:nvSpPr>
        <p:spPr>
          <a:xfrm>
            <a:off x="640080" y="1170432"/>
            <a:ext cx="9418320" cy="45720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Valores en pesos chilenos (CLP), impuestos incluidos. Licencias Claude Team (asiento estándar) por 12 meses, gestión y soporte de KeepSync.</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9418320" cy="914400"/>
        </p:xfrm>
        <a:graphic>
          <a:graphicData uri="http://schemas.openxmlformats.org/drawingml/2006/table">
            <a:tbl>
              <a:tblPr/>
              <a:tblGrid>
                <a:gridCol w="3840480"/>
                <a:gridCol w="822960"/>
                <a:gridCol w="822960"/>
                <a:gridCol w="1965960"/>
                <a:gridCol w="196596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Descripción</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Cant.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Meses</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Valor unit. mensual</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Subtotal neto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Licencia cuenta Claude Team (asiento estándar)</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$28.084</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$1.348.040</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Taller de buenas prácticas (3 horas) para aprovechar al máximo la plataforma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Acceso a la comunidad de usuarios de Claude en Chile</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bl>
          </a:graphicData>
        </a:graphic>
      </p:graphicFrame>
      <p:sp>
        <p:nvSpPr>
          <p:cNvPr id="7" name="Text 4"/>
          <p:cNvSpPr/>
          <p:nvPr/>
        </p:nvSpPr>
        <p:spPr>
          <a:xfrm>
            <a:off x="6126480" y="4023360"/>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Neto</a:t>
            </a:r>
            <a:endParaRPr lang="en-US" sz="1200" dirty="0"/>
          </a:p>
        </p:txBody>
      </p:sp>
      <p:sp>
        <p:nvSpPr>
          <p:cNvPr id="8" name="Text 5"/>
          <p:cNvSpPr/>
          <p:nvPr/>
        </p:nvSpPr>
        <p:spPr>
          <a:xfrm>
            <a:off x="8229600" y="4023360"/>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$1.348.040</a:t>
            </a:r>
            <a:endParaRPr lang="en-US" sz="1200" dirty="0"/>
          </a:p>
        </p:txBody>
      </p:sp>
      <p:sp>
        <p:nvSpPr>
          <p:cNvPr id="9" name="Text 6"/>
          <p:cNvSpPr/>
          <p:nvPr/>
        </p:nvSpPr>
        <p:spPr>
          <a:xfrm>
            <a:off x="6126480" y="4407408"/>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IVA 19%</a:t>
            </a:r>
            <a:endParaRPr lang="en-US" sz="1200" dirty="0"/>
          </a:p>
        </p:txBody>
      </p:sp>
      <p:sp>
        <p:nvSpPr>
          <p:cNvPr id="10" name="Text 7"/>
          <p:cNvSpPr/>
          <p:nvPr/>
        </p:nvSpPr>
        <p:spPr>
          <a:xfrm>
            <a:off x="8229600" y="4407408"/>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$256.128</a:t>
            </a:r>
            <a:endParaRPr lang="en-US" sz="1200" dirty="0"/>
          </a:p>
        </p:txBody>
      </p:sp>
      <p:sp>
        <p:nvSpPr>
          <p:cNvPr id="11" name="Shape 8"/>
          <p:cNvSpPr/>
          <p:nvPr/>
        </p:nvSpPr>
        <p:spPr>
          <a:xfrm>
            <a:off x="6126480" y="4846320"/>
            <a:ext cx="3931920" cy="548640"/>
          </a:xfrm>
          <a:prstGeom prst="roundRect">
            <a:avLst>
              <a:gd name="adj" fmla="val 10000"/>
            </a:avLst>
          </a:prstGeom>
          <a:solidFill>
            <a:srgbClr val="786CF0"/>
          </a:solidFill>
          <a:ln/>
        </p:spPr>
      </p:sp>
      <p:sp>
        <p:nvSpPr>
          <p:cNvPr id="12" name="Text 9"/>
          <p:cNvSpPr/>
          <p:nvPr/>
        </p:nvSpPr>
        <p:spPr>
          <a:xfrm>
            <a:off x="6126480" y="4937760"/>
            <a:ext cx="21031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TOTAL</a:t>
            </a:r>
            <a:endParaRPr lang="en-US" sz="1500" dirty="0"/>
          </a:p>
        </p:txBody>
      </p:sp>
      <p:sp>
        <p:nvSpPr>
          <p:cNvPr id="13" name="Text 10"/>
          <p:cNvSpPr/>
          <p:nvPr/>
        </p:nvSpPr>
        <p:spPr>
          <a:xfrm>
            <a:off x="8229600" y="4937760"/>
            <a:ext cx="1828800" cy="365760"/>
          </a:xfrm>
          <a:prstGeom prst="rect">
            <a:avLst/>
          </a:prstGeom>
          <a:noFill/>
          <a:ln/>
        </p:spPr>
        <p:txBody>
          <a:bodyPr wrap="square"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$1.604.168</a:t>
            </a:r>
            <a:endParaRPr lang="en-US" sz="1500" dirty="0"/>
          </a:p>
        </p:txBody>
      </p:sp>
      <p:sp>
        <p:nvSpPr>
          <p:cNvPr id="14" name="Text 11"/>
          <p:cNvSpPr/>
          <p:nvPr/>
        </p:nvSpPr>
        <p:spPr>
          <a:xfrm>
            <a:off x="640080" y="4023360"/>
            <a:ext cx="5212080" cy="365760"/>
          </a:xfrm>
          <a:prstGeom prst="rect">
            <a:avLst/>
          </a:prstGeom>
          <a:noFill/>
          <a:ln/>
        </p:spPr>
        <p:txBody>
          <a:bodyPr wrap="square" rtlCol="0" anchor="ctr"/>
          <a:lstStyle/>
          <a:p>
            <a:pPr indent="0" marL="0">
              <a:buNone/>
            </a:pPr>
            <a:r>
              <a:rPr lang="en-US" sz="1100" dirty="0">
                <a:solidFill>
                  <a:srgbClr val="B4AAFA"/>
                </a:solidFill>
                <a:latin typeface="Arial" pitchFamily="34" charset="0"/>
                <a:ea typeface="Arial" pitchFamily="34" charset="-122"/>
                <a:cs typeface="Arial" pitchFamily="34" charset="-120"/>
              </a:rPr>
              <a:t>Oferta bajo el presupuesto disponible de $6.000.000</a:t>
            </a:r>
            <a:endParaRPr lang="en-US" sz="1100" dirty="0"/>
          </a:p>
        </p:txBody>
      </p:sp>
      <p:sp>
        <p:nvSpPr>
          <p:cNvPr id="15" name="Text 12"/>
          <p:cNvSpPr/>
          <p:nvPr/>
        </p:nvSpPr>
        <p:spPr>
          <a:xfrm>
            <a:off x="640080" y="5623560"/>
            <a:ext cx="94183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Condiciones comerciales</a:t>
            </a:r>
            <a:endParaRPr lang="en-US" sz="1400" dirty="0"/>
          </a:p>
        </p:txBody>
      </p:sp>
      <p:sp>
        <p:nvSpPr>
          <p:cNvPr id="16" name="Text 13"/>
          <p:cNvSpPr/>
          <p:nvPr/>
        </p:nvSpPr>
        <p:spPr>
          <a:xfrm>
            <a:off x="640080" y="5989320"/>
            <a:ext cx="9418320" cy="1188720"/>
          </a:xfrm>
          <a:prstGeom prst="rect">
            <a:avLst/>
          </a:prstGeom>
          <a:noFill/>
          <a:ln/>
        </p:spPr>
        <p:txBody>
          <a:bodyPr wrap="square" rtlCol="0" anchor="ctr"/>
          <a:lstStyle/>
          <a:p>
            <a:pPr indent="0" marL="0">
              <a:lnSpc>
                <a:spcPct val="130000"/>
              </a:lnSpc>
              <a:buNone/>
            </a:pPr>
            <a:r>
              <a:rPr lang="en-US" sz="1100" dirty="0">
                <a:solidFill>
                  <a:srgbClr val="8A8F98"/>
                </a:solidFill>
                <a:latin typeface="Arial" pitchFamily="34" charset="0"/>
                <a:ea typeface="Arial" pitchFamily="34" charset="-122"/>
                <a:cs typeface="Arial" pitchFamily="34" charset="-120"/>
              </a:rPr>
              <a:t>•  Plazo de entrega / activación: 30 día(s) hábil(es) desde la adjudicación.</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un taller de buenas prácticas de 3 horas para aprovechar al máximo la plataforma.</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acceso a la comunidad de usuarios de Claude en Chile.</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Valor de despacho / entrega digital incluido en el monto total.</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Proveedor con habilidad vigente en el Sistema de Información (Mercado Público).</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Plataforma ofertada: Claude (Anthropic), plan corporativo Claude Team, asiento estándar, suscripción anual de 12 meses continuos; equivalente a la referencia «ChatGPT-Work-Codex» del TDR (Arts. 11 y 17).</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4 cuentas de usuario individualizadas, asociadas a los correos institucionales que determine la Unidad Técnica (Art. 11 e); el plazo de activación se computa desde la aceptación de la Orden de Compra (Art. 20).</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Ficha técnica y enlace oficial del fabricante: https://claude.com/pricing (Art. 11 g).</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Vigencia de esta cotización: 60 días corridos desde el cierre de la Compra Ágil (Art. 26).</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Contacto del ejecutivo responsable: Cristian Molina Espinoza — cristian.molina@keepsync.ai — +56 9 3674 8442.</a:t>
            </a:r>
            <a:endParaRPr lang="en-US" sz="1100" dirty="0"/>
          </a:p>
        </p:txBody>
      </p:sp>
      <p:sp>
        <p:nvSpPr>
          <p:cNvPr id="17" name="Text 14"/>
          <p:cNvSpPr/>
          <p:nvPr/>
        </p:nvSpPr>
        <p:spPr>
          <a:xfrm>
            <a:off x="640080" y="7086600"/>
            <a:ext cx="9418320" cy="320040"/>
          </a:xfrm>
          <a:prstGeom prst="rect">
            <a:avLst/>
          </a:prstGeom>
          <a:noFill/>
          <a:ln/>
        </p:spPr>
        <p:txBody>
          <a:bodyPr wrap="square" rtlCol="0" anchor="ctr"/>
          <a:lstStyle/>
          <a:p>
            <a:pPr indent="0" marL="0">
              <a:buNone/>
            </a:pPr>
            <a:r>
              <a:rPr lang="en-US" sz="1000" b="1" dirty="0">
                <a:solidFill>
                  <a:srgbClr val="FF4D4D"/>
                </a:solidFill>
                <a:latin typeface="Arial" pitchFamily="34" charset="0"/>
                <a:ea typeface="Arial" pitchFamily="34" charset="-122"/>
                <a:cs typeface="Arial" pitchFamily="34" charset="-120"/>
              </a:rPr>
              <a:t>KeepSync   —   cristian.molina@keepsync.ai   —   BORRADOR: RUT y razón social pendientes de confirmar antes de enviar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2026-10-01T18:33:52Z</dcterms:created>
  <dcterms:modified xsi:type="dcterms:W3CDTF">2026-10-01T18:33:52Z</dcterms:modified>
</cp:coreProperties>
</file>